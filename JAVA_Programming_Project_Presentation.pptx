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1" roundtripDataSignature="AMtx7mjDZzEn3zF/sITkO1XngnAKB+2S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6"/>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 name="Google Shape;15;p1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9"/>
          <p:cNvSpPr/>
          <p:nvPr/>
        </p:nvSpPr>
        <p:spPr>
          <a:xfrm>
            <a:off x="0" y="0"/>
            <a:ext cx="12192000" cy="4572001"/>
          </a:xfrm>
          <a:prstGeom prst="rect">
            <a:avLst/>
          </a:prstGeom>
          <a:solidFill>
            <a:srgbClr val="1482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9"/>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9"/>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9"/>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23" name="Google Shape;23;p1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26" name="Google Shape;26;p19"/>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p:nvPr/>
        </p:nvSpPr>
        <p:spPr>
          <a:xfrm>
            <a:off x="0" y="0"/>
            <a:ext cx="12192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0"/>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0"/>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b="0"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0"/>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2" name="Google Shape;32;p2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35" name="Google Shape;35;p20"/>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2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1"/>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9" name="Google Shape;39;p21"/>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0" name="Google Shape;40;p2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2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2"/>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6" name="Google Shape;46;p22"/>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22"/>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8" name="Google Shape;48;p22"/>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2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2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2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64" name="Google Shape;64;p25"/>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5" name="Google Shape;65;p2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p:nvPr>
            <p:ph idx="2" type="pic"/>
          </p:nvPr>
        </p:nvSpPr>
        <p:spPr>
          <a:xfrm>
            <a:off x="0" y="-1"/>
            <a:ext cx="12188952" cy="4572000"/>
          </a:xfrm>
          <a:prstGeom prst="rect">
            <a:avLst/>
          </a:prstGeom>
          <a:solidFill>
            <a:srgbClr val="76CEEF"/>
          </a:solidFill>
          <a:ln>
            <a:noFill/>
          </a:ln>
        </p:spPr>
      </p:sp>
      <p:sp>
        <p:nvSpPr>
          <p:cNvPr id="71" name="Google Shape;71;p26"/>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72" name="Google Shape;72;p2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75" name="Google Shape;75;p26"/>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2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7"/>
          <p:cNvSpPr txBox="1"/>
          <p:nvPr>
            <p:ph idx="1" type="body"/>
          </p:nvPr>
        </p:nvSpPr>
        <p:spPr>
          <a:xfrm rot="5400000">
            <a:off x="3872485"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9" name="Google Shape;79;p2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28"/>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28"/>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5" name="Google Shape;85;p2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88" name="Google Shape;88;p28"/>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FEFEF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8"/>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9" name="Google Shape;99;p1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2FAFD"/>
            </a:gs>
            <a:gs pos="74000">
              <a:srgbClr val="97DAF2"/>
            </a:gs>
            <a:gs pos="83000">
              <a:srgbClr val="97DAF2"/>
            </a:gs>
            <a:gs pos="100000">
              <a:srgbClr val="BAE6F6"/>
            </a:gs>
          </a:gsLst>
          <a:lin ang="5400000" scaled="0"/>
        </a:gra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Twentieth Century"/>
              <a:buNone/>
              <a:defRPr b="0" i="0" sz="5000" u="none" cap="none" strike="noStrik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8" name="Google Shape;8;p1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9" name="Google Shape;9;p1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 name="Google Shape;10;p1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11" name="Google Shape;11;p15"/>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2FAFD"/>
            </a:gs>
            <a:gs pos="74000">
              <a:srgbClr val="97DAF2"/>
            </a:gs>
            <a:gs pos="83000">
              <a:srgbClr val="97DAF2"/>
            </a:gs>
            <a:gs pos="100000">
              <a:srgbClr val="BAE6F6"/>
            </a:gs>
          </a:gsLst>
          <a:lin ang="5400000" scaled="0"/>
        </a:gradFill>
      </p:bgPr>
    </p:bg>
    <p:spTree>
      <p:nvGrpSpPr>
        <p:cNvPr id="89" name="Shape 89"/>
        <p:cNvGrpSpPr/>
        <p:nvPr/>
      </p:nvGrpSpPr>
      <p:grpSpPr>
        <a:xfrm>
          <a:off x="0" y="0"/>
          <a:ext cx="0" cy="0"/>
          <a:chOff x="0" y="0"/>
          <a:chExt cx="0" cy="0"/>
        </a:xfrm>
      </p:grpSpPr>
      <p:sp>
        <p:nvSpPr>
          <p:cNvPr id="90" name="Google Shape;90;p1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FEFEFE"/>
              </a:buClr>
              <a:buSzPts val="5000"/>
              <a:buFont typeface="Twentieth Century"/>
              <a:buNone/>
              <a:defRPr b="0" i="0" sz="5000" u="none" cap="none" strike="noStrike">
                <a:solidFill>
                  <a:srgbClr val="FEFEFE"/>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1" name="Google Shape;91;p1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lt1"/>
                </a:solidFill>
                <a:latin typeface="Twentieth Century"/>
                <a:ea typeface="Twentieth Century"/>
                <a:cs typeface="Twentieth Century"/>
                <a:sym typeface="Twentieth Century"/>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lt1"/>
                </a:solidFill>
                <a:latin typeface="Twentieth Century"/>
                <a:ea typeface="Twentieth Century"/>
                <a:cs typeface="Twentieth Century"/>
                <a:sym typeface="Twentieth Century"/>
              </a:defRPr>
            </a:lvl9pPr>
          </a:lstStyle>
          <a:p/>
        </p:txBody>
      </p:sp>
      <p:sp>
        <p:nvSpPr>
          <p:cNvPr id="92" name="Google Shape;92;p1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FEFEFE"/>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9pPr>
          </a:lstStyle>
          <a:p/>
        </p:txBody>
      </p:sp>
      <p:sp>
        <p:nvSpPr>
          <p:cNvPr id="93" name="Google Shape;93;p1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FEFEFE"/>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lt1"/>
                </a:solidFill>
                <a:latin typeface="Twentieth Century"/>
                <a:ea typeface="Twentieth Century"/>
                <a:cs typeface="Twentieth Century"/>
                <a:sym typeface="Twentieth Century"/>
              </a:defRPr>
            </a:lvl9pPr>
          </a:lstStyle>
          <a:p/>
        </p:txBody>
      </p:sp>
      <p:sp>
        <p:nvSpPr>
          <p:cNvPr id="94" name="Google Shape;94;p1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FEFEFE"/>
                </a:solidFill>
                <a:latin typeface="Twentieth Century"/>
                <a:ea typeface="Twentieth Century"/>
                <a:cs typeface="Twentieth Century"/>
                <a:sym typeface="Twentieth Century"/>
              </a:defRPr>
            </a:lvl1pPr>
            <a:lvl2pPr indent="0" lvl="1" marL="0" marR="0" rtl="0" algn="l">
              <a:spcBef>
                <a:spcPts val="0"/>
              </a:spcBef>
              <a:buNone/>
              <a:defRPr b="0" i="0" sz="1000" u="none" cap="none" strike="noStrike">
                <a:solidFill>
                  <a:srgbClr val="FEFEFE"/>
                </a:solidFill>
                <a:latin typeface="Twentieth Century"/>
                <a:ea typeface="Twentieth Century"/>
                <a:cs typeface="Twentieth Century"/>
                <a:sym typeface="Twentieth Century"/>
              </a:defRPr>
            </a:lvl2pPr>
            <a:lvl3pPr indent="0" lvl="2" marL="0" marR="0" rtl="0" algn="l">
              <a:spcBef>
                <a:spcPts val="0"/>
              </a:spcBef>
              <a:buNone/>
              <a:defRPr b="0" i="0" sz="1000" u="none" cap="none" strike="noStrike">
                <a:solidFill>
                  <a:srgbClr val="FEFEFE"/>
                </a:solidFill>
                <a:latin typeface="Twentieth Century"/>
                <a:ea typeface="Twentieth Century"/>
                <a:cs typeface="Twentieth Century"/>
                <a:sym typeface="Twentieth Century"/>
              </a:defRPr>
            </a:lvl3pPr>
            <a:lvl4pPr indent="0" lvl="3" marL="0" marR="0" rtl="0" algn="l">
              <a:spcBef>
                <a:spcPts val="0"/>
              </a:spcBef>
              <a:buNone/>
              <a:defRPr b="0" i="0" sz="1000" u="none" cap="none" strike="noStrike">
                <a:solidFill>
                  <a:srgbClr val="FEFEFE"/>
                </a:solidFill>
                <a:latin typeface="Twentieth Century"/>
                <a:ea typeface="Twentieth Century"/>
                <a:cs typeface="Twentieth Century"/>
                <a:sym typeface="Twentieth Century"/>
              </a:defRPr>
            </a:lvl4pPr>
            <a:lvl5pPr indent="0" lvl="4" marL="0" marR="0" rtl="0" algn="l">
              <a:spcBef>
                <a:spcPts val="0"/>
              </a:spcBef>
              <a:buNone/>
              <a:defRPr b="0" i="0" sz="1000" u="none" cap="none" strike="noStrike">
                <a:solidFill>
                  <a:srgbClr val="FEFEFE"/>
                </a:solidFill>
                <a:latin typeface="Twentieth Century"/>
                <a:ea typeface="Twentieth Century"/>
                <a:cs typeface="Twentieth Century"/>
                <a:sym typeface="Twentieth Century"/>
              </a:defRPr>
            </a:lvl5pPr>
            <a:lvl6pPr indent="0" lvl="5" marL="0" marR="0" rtl="0" algn="l">
              <a:spcBef>
                <a:spcPts val="0"/>
              </a:spcBef>
              <a:buNone/>
              <a:defRPr b="0" i="0" sz="1000" u="none" cap="none" strike="noStrike">
                <a:solidFill>
                  <a:srgbClr val="FEFEFE"/>
                </a:solidFill>
                <a:latin typeface="Twentieth Century"/>
                <a:ea typeface="Twentieth Century"/>
                <a:cs typeface="Twentieth Century"/>
                <a:sym typeface="Twentieth Century"/>
              </a:defRPr>
            </a:lvl6pPr>
            <a:lvl7pPr indent="0" lvl="6" marL="0" marR="0" rtl="0" algn="l">
              <a:spcBef>
                <a:spcPts val="0"/>
              </a:spcBef>
              <a:buNone/>
              <a:defRPr b="0" i="0" sz="1000" u="none" cap="none" strike="noStrike">
                <a:solidFill>
                  <a:srgbClr val="FEFEFE"/>
                </a:solidFill>
                <a:latin typeface="Twentieth Century"/>
                <a:ea typeface="Twentieth Century"/>
                <a:cs typeface="Twentieth Century"/>
                <a:sym typeface="Twentieth Century"/>
              </a:defRPr>
            </a:lvl7pPr>
            <a:lvl8pPr indent="0" lvl="7" marL="0" marR="0" rtl="0" algn="l">
              <a:spcBef>
                <a:spcPts val="0"/>
              </a:spcBef>
              <a:buNone/>
              <a:defRPr b="0" i="0" sz="1000" u="none" cap="none" strike="noStrike">
                <a:solidFill>
                  <a:srgbClr val="FEFEFE"/>
                </a:solidFill>
                <a:latin typeface="Twentieth Century"/>
                <a:ea typeface="Twentieth Century"/>
                <a:cs typeface="Twentieth Century"/>
                <a:sym typeface="Twentieth Century"/>
              </a:defRPr>
            </a:lvl8pPr>
            <a:lvl9pPr indent="0" lvl="8" marL="0" marR="0" rtl="0" algn="l">
              <a:spcBef>
                <a:spcPts val="0"/>
              </a:spcBef>
              <a:buNone/>
              <a:defRPr b="0" i="0" sz="1000" u="none" cap="none" strike="noStrike">
                <a:solidFill>
                  <a:srgbClr val="FEFEFE"/>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95" name="Google Shape;95;p17"/>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
          <p:cNvSpPr/>
          <p:nvPr/>
        </p:nvSpPr>
        <p:spPr>
          <a:xfrm>
            <a:off x="-10001" y="-2"/>
            <a:ext cx="4069936" cy="685800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07" name="Google Shape;107;p1"/>
          <p:cNvSpPr txBox="1"/>
          <p:nvPr>
            <p:ph type="title"/>
          </p:nvPr>
        </p:nvSpPr>
        <p:spPr>
          <a:xfrm>
            <a:off x="345275" y="961500"/>
            <a:ext cx="4574400" cy="44343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sz="3600">
                <a:solidFill>
                  <a:srgbClr val="FFFFFF"/>
                </a:solidFill>
              </a:rPr>
              <a:t>JAVA </a:t>
            </a:r>
            <a:endParaRPr sz="3600">
              <a:solidFill>
                <a:srgbClr val="FFFFFF"/>
              </a:solidFill>
            </a:endParaRPr>
          </a:p>
          <a:p>
            <a:pPr indent="0" lvl="0" marL="0" rtl="0" algn="l">
              <a:lnSpc>
                <a:spcPct val="80000"/>
              </a:lnSpc>
              <a:spcBef>
                <a:spcPts val="0"/>
              </a:spcBef>
              <a:spcAft>
                <a:spcPts val="0"/>
              </a:spcAft>
              <a:buClr>
                <a:srgbClr val="FFFFFF"/>
              </a:buClr>
              <a:buSzPts val="5000"/>
              <a:buFont typeface="Twentieth Century"/>
              <a:buNone/>
            </a:pPr>
            <a:r>
              <a:rPr lang="en-US" sz="3600">
                <a:solidFill>
                  <a:srgbClr val="FFFFFF"/>
                </a:solidFill>
              </a:rPr>
              <a:t>PROGRAMMING PROJECT PRESENTATION</a:t>
            </a:r>
            <a:endParaRPr sz="3600"/>
          </a:p>
        </p:txBody>
      </p:sp>
      <p:sp>
        <p:nvSpPr>
          <p:cNvPr id="108" name="Google Shape;108;p1"/>
          <p:cNvSpPr txBox="1"/>
          <p:nvPr>
            <p:ph idx="1" type="body"/>
          </p:nvPr>
        </p:nvSpPr>
        <p:spPr>
          <a:xfrm>
            <a:off x="4699818" y="2106273"/>
            <a:ext cx="7172138" cy="3745107"/>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200"/>
              <a:buNone/>
            </a:pPr>
            <a:r>
              <a:t/>
            </a:r>
            <a:endParaRPr/>
          </a:p>
          <a:p>
            <a:pPr indent="-114300" lvl="0" marL="91440" rtl="0" algn="l">
              <a:lnSpc>
                <a:spcPct val="90000"/>
              </a:lnSpc>
              <a:spcBef>
                <a:spcPts val="1400"/>
              </a:spcBef>
              <a:spcAft>
                <a:spcPts val="0"/>
              </a:spcAft>
              <a:buSzPts val="1800"/>
              <a:buChar char=" "/>
            </a:pPr>
            <a:r>
              <a:rPr lang="en-US"/>
              <a:t>Project Title: </a:t>
            </a:r>
            <a:r>
              <a:rPr lang="en-US"/>
              <a:t>Employee Performance Evaluation and Rating System </a:t>
            </a:r>
            <a:endParaRPr/>
          </a:p>
          <a:p>
            <a:pPr indent="-114300" lvl="0" marL="91440" rtl="0" algn="l">
              <a:lnSpc>
                <a:spcPct val="90000"/>
              </a:lnSpc>
              <a:spcBef>
                <a:spcPts val="1400"/>
              </a:spcBef>
              <a:spcAft>
                <a:spcPts val="0"/>
              </a:spcAft>
              <a:buSzPts val="1800"/>
              <a:buChar char=" "/>
            </a:pPr>
            <a:r>
              <a:rPr lang="en-US"/>
              <a:t>Course: Java Mini Project</a:t>
            </a:r>
            <a:endParaRPr/>
          </a:p>
          <a:p>
            <a:pPr indent="-114300" lvl="0" marL="91440" rtl="0" algn="l">
              <a:lnSpc>
                <a:spcPct val="90000"/>
              </a:lnSpc>
              <a:spcBef>
                <a:spcPts val="1400"/>
              </a:spcBef>
              <a:spcAft>
                <a:spcPts val="0"/>
              </a:spcAft>
              <a:buSzPts val="1800"/>
              <a:buChar char=" "/>
            </a:pPr>
            <a:r>
              <a:rPr lang="en-US"/>
              <a:t>Student Name &amp; Roll No: LEENA R [25BCS163]</a:t>
            </a:r>
            <a:endParaRPr/>
          </a:p>
          <a:p>
            <a:pPr indent="-114300" lvl="0" marL="91440" rtl="0" algn="l">
              <a:lnSpc>
                <a:spcPct val="90000"/>
              </a:lnSpc>
              <a:spcBef>
                <a:spcPts val="1400"/>
              </a:spcBef>
              <a:spcAft>
                <a:spcPts val="0"/>
              </a:spcAft>
              <a:buSzPts val="1800"/>
              <a:buChar char=" "/>
            </a:pPr>
            <a:r>
              <a:rPr lang="en-US"/>
              <a:t>Department: Computer Science </a:t>
            </a:r>
            <a:endParaRPr/>
          </a:p>
          <a:p>
            <a:pPr indent="-114300" lvl="0" marL="91440" rtl="0" algn="l">
              <a:lnSpc>
                <a:spcPct val="90000"/>
              </a:lnSpc>
              <a:spcBef>
                <a:spcPts val="1400"/>
              </a:spcBef>
              <a:spcAft>
                <a:spcPts val="0"/>
              </a:spcAft>
              <a:buSzPts val="1800"/>
              <a:buChar char=" "/>
            </a:pPr>
            <a:r>
              <a:rPr lang="en-US"/>
              <a:t>Mentor / Guide:</a:t>
            </a:r>
            <a:r>
              <a:rPr lang="en-US"/>
              <a:t> Aravind</a:t>
            </a:r>
            <a:endParaRPr/>
          </a:p>
        </p:txBody>
      </p:sp>
      <p:pic>
        <p:nvPicPr>
          <p:cNvPr descr="A blue and red logo&#10;&#10;AI-generated content may be incorrect." id="109" name="Google Shape;109;p1"/>
          <p:cNvPicPr preferRelativeResize="0"/>
          <p:nvPr/>
        </p:nvPicPr>
        <p:blipFill rotWithShape="1">
          <a:blip r:embed="rId3">
            <a:alphaModFix/>
          </a:blip>
          <a:srcRect b="0" l="0" r="0" t="0"/>
          <a:stretch/>
        </p:blipFill>
        <p:spPr>
          <a:xfrm>
            <a:off x="4699818" y="233332"/>
            <a:ext cx="6743910" cy="16859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15" name="Google Shape;115;p2"/>
          <p:cNvSpPr/>
          <p:nvPr/>
        </p:nvSpPr>
        <p:spPr>
          <a:xfrm>
            <a:off x="2772744" y="484632"/>
            <a:ext cx="8948150" cy="5880916"/>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16" name="Google Shape;116;p2"/>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INTRODUCTION</a:t>
            </a:r>
            <a:endParaRPr>
              <a:solidFill>
                <a:srgbClr val="FFFFFF"/>
              </a:solidFill>
            </a:endParaRPr>
          </a:p>
        </p:txBody>
      </p:sp>
      <p:sp>
        <p:nvSpPr>
          <p:cNvPr id="117" name="Google Shape;117;p2"/>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118" name="Google Shape;118;p2"/>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119" name="Google Shape;119;p2"/>
          <p:cNvSpPr txBox="1"/>
          <p:nvPr>
            <p:ph idx="1" type="body"/>
          </p:nvPr>
        </p:nvSpPr>
        <p:spPr>
          <a:xfrm>
            <a:off x="3469327" y="2489202"/>
            <a:ext cx="7923264" cy="3554614"/>
          </a:xfrm>
          <a:prstGeom prst="rect">
            <a:avLst/>
          </a:prstGeom>
          <a:noFill/>
          <a:ln>
            <a:noFill/>
          </a:ln>
        </p:spPr>
        <p:txBody>
          <a:bodyPr anchorCtr="0" anchor="t" bIns="45700" lIns="45700" spcFirstLastPara="1" rIns="45700" wrap="square" tIns="45700">
            <a:normAutofit fontScale="85000" lnSpcReduction="20000"/>
          </a:bodyPr>
          <a:lstStyle/>
          <a:p>
            <a:pPr indent="0" lvl="0" marL="91440" rtl="0" algn="l">
              <a:lnSpc>
                <a:spcPct val="90000"/>
              </a:lnSpc>
              <a:spcBef>
                <a:spcPts val="0"/>
              </a:spcBef>
              <a:spcAft>
                <a:spcPts val="0"/>
              </a:spcAft>
              <a:buSzPct val="100000"/>
              <a:buNone/>
            </a:pPr>
            <a:r>
              <a:t/>
            </a:r>
            <a:endParaRPr>
              <a:solidFill>
                <a:srgbClr val="FFFFFF"/>
              </a:solidFill>
            </a:endParaRPr>
          </a:p>
          <a:p>
            <a:pPr indent="-97155" lvl="0" marL="91440" rtl="0" algn="l">
              <a:lnSpc>
                <a:spcPct val="115000"/>
              </a:lnSpc>
              <a:spcBef>
                <a:spcPts val="1200"/>
              </a:spcBef>
              <a:spcAft>
                <a:spcPts val="0"/>
              </a:spcAft>
              <a:buSzPct val="81818"/>
              <a:buChar char=" "/>
            </a:pPr>
            <a:r>
              <a:rPr lang="en-US">
                <a:solidFill>
                  <a:srgbClr val="FFFFFF"/>
                </a:solidFill>
              </a:rPr>
              <a:t>The Employee Performance Evaluation and Rating System is a software-based solution designed to assess and manage employee performance in an organization. It helps in analyzing the work efficiency of employees based on their performance scores and converting them into meaningful ratings such as Excellent, Very Good, Good, Average, and Poor.</a:t>
            </a:r>
            <a:endParaRPr>
              <a:solidFill>
                <a:srgbClr val="FFFFFF"/>
              </a:solidFill>
            </a:endParaRPr>
          </a:p>
          <a:p>
            <a:pPr indent="-97155" lvl="0" marL="91440" rtl="0" algn="l">
              <a:lnSpc>
                <a:spcPct val="115000"/>
              </a:lnSpc>
              <a:spcBef>
                <a:spcPts val="0"/>
              </a:spcBef>
              <a:spcAft>
                <a:spcPts val="0"/>
              </a:spcAft>
              <a:buSzPct val="81818"/>
              <a:buChar char=" "/>
            </a:pPr>
            <a:r>
              <a:rPr lang="en-US">
                <a:solidFill>
                  <a:srgbClr val="FFFFFF"/>
                </a:solidFill>
              </a:rPr>
              <a:t>This system simplifies the traditional manual evaluation process by automating performance calculations and ensuring fair and consistent assessment. It improves decision-making for promotions, salary increments, and training needs by providing accurate performance reports.</a:t>
            </a:r>
            <a:endParaRPr>
              <a:solidFill>
                <a:srgbClr val="FFFFFF"/>
              </a:solidFill>
            </a:endParaRPr>
          </a:p>
          <a:p>
            <a:pPr indent="-97155" lvl="0" marL="91440" rtl="0" algn="l">
              <a:lnSpc>
                <a:spcPct val="90000"/>
              </a:lnSpc>
              <a:spcBef>
                <a:spcPts val="1400"/>
              </a:spcBef>
              <a:spcAft>
                <a:spcPts val="0"/>
              </a:spcAft>
              <a:buClr>
                <a:srgbClr val="FFFFFF"/>
              </a:buClr>
              <a:buSzPct val="81818"/>
              <a:buChar char=" "/>
            </a:pPr>
            <a:r>
              <a:t/>
            </a:r>
            <a:endParaRPr>
              <a:solidFill>
                <a:srgbClr val="FFFFFF"/>
              </a:solidFill>
            </a:endParaRPr>
          </a:p>
        </p:txBody>
      </p:sp>
      <p:pic>
        <p:nvPicPr>
          <p:cNvPr descr="A blue and red logo&#10;&#10;AI-generated content may be incorrect." id="120" name="Google Shape;120;p2"/>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121" name="Google Shape;121;p2"/>
          <p:cNvSpPr txBox="1"/>
          <p:nvPr/>
        </p:nvSpPr>
        <p:spPr>
          <a:xfrm>
            <a:off x="566450" y="589925"/>
            <a:ext cx="21288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PROGRAMMING PROJECT PRESENTATION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27" name="Google Shape;127;p3"/>
          <p:cNvSpPr/>
          <p:nvPr/>
        </p:nvSpPr>
        <p:spPr>
          <a:xfrm>
            <a:off x="2772744" y="484632"/>
            <a:ext cx="8948150" cy="5880916"/>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28" name="Google Shape;128;p3"/>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OBJECTIVE</a:t>
            </a:r>
            <a:endParaRPr/>
          </a:p>
        </p:txBody>
      </p:sp>
      <p:sp>
        <p:nvSpPr>
          <p:cNvPr id="129" name="Google Shape;129;p3"/>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130" name="Google Shape;130;p3"/>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131" name="Google Shape;131;p3"/>
          <p:cNvSpPr txBox="1"/>
          <p:nvPr>
            <p:ph idx="1" type="body"/>
          </p:nvPr>
        </p:nvSpPr>
        <p:spPr>
          <a:xfrm>
            <a:off x="3469327" y="2489202"/>
            <a:ext cx="7923264" cy="3554614"/>
          </a:xfrm>
          <a:prstGeom prst="rect">
            <a:avLst/>
          </a:prstGeom>
          <a:noFill/>
          <a:ln>
            <a:noFill/>
          </a:ln>
        </p:spPr>
        <p:txBody>
          <a:bodyPr anchorCtr="0" anchor="t" bIns="45700" lIns="45700" spcFirstLastPara="1" rIns="45700" wrap="square" tIns="45700">
            <a:normAutofit fontScale="85000" lnSpcReduction="20000"/>
          </a:bodyPr>
          <a:lstStyle/>
          <a:p>
            <a:pPr indent="0" lvl="0" marL="91440" rtl="0" algn="l">
              <a:lnSpc>
                <a:spcPct val="90000"/>
              </a:lnSpc>
              <a:spcBef>
                <a:spcPts val="0"/>
              </a:spcBef>
              <a:spcAft>
                <a:spcPts val="0"/>
              </a:spcAft>
              <a:buSzPct val="100000"/>
              <a:buNone/>
            </a:pPr>
            <a:r>
              <a:t/>
            </a:r>
            <a:endParaRPr>
              <a:solidFill>
                <a:srgbClr val="FFFFFF"/>
              </a:solidFill>
            </a:endParaRPr>
          </a:p>
          <a:p>
            <a:pPr indent="-97155" lvl="0" marL="91440" rtl="0" algn="l">
              <a:lnSpc>
                <a:spcPct val="115000"/>
              </a:lnSpc>
              <a:spcBef>
                <a:spcPts val="1200"/>
              </a:spcBef>
              <a:spcAft>
                <a:spcPts val="0"/>
              </a:spcAft>
              <a:buSzPct val="81818"/>
              <a:buChar char=" "/>
            </a:pPr>
            <a:r>
              <a:rPr lang="en-US">
                <a:solidFill>
                  <a:srgbClr val="FFFFFF"/>
                </a:solidFill>
              </a:rPr>
              <a:t>The main objective of the Employee Performance Evaluation and Rating System is to develop an efficient and automated method for evaluating employee performance in an organization. The system aims to simplify the process of performance assessment by converting numerical performance scores into meaningful ratings.</a:t>
            </a:r>
            <a:endParaRPr>
              <a:solidFill>
                <a:srgbClr val="FFFFFF"/>
              </a:solidFill>
            </a:endParaRPr>
          </a:p>
          <a:p>
            <a:pPr indent="-97155" lvl="0" marL="91440" rtl="0" algn="l">
              <a:lnSpc>
                <a:spcPct val="115000"/>
              </a:lnSpc>
              <a:spcBef>
                <a:spcPts val="0"/>
              </a:spcBef>
              <a:spcAft>
                <a:spcPts val="0"/>
              </a:spcAft>
              <a:buSzPct val="81818"/>
              <a:buChar char=" "/>
            </a:pPr>
            <a:r>
              <a:rPr lang="en-US">
                <a:solidFill>
                  <a:srgbClr val="FFFFFF"/>
                </a:solidFill>
              </a:rPr>
              <a:t>It helps in reducing manual effort, saving time, and ensuring fair and unbiased evaluation of employees. The system also supports management in identifying high-performing employees, improving productivity, and making better decisions regarding promotions, rewards, and training requirements.</a:t>
            </a:r>
            <a:endParaRPr>
              <a:solidFill>
                <a:srgbClr val="FFFFFF"/>
              </a:solidFill>
            </a:endParaRPr>
          </a:p>
          <a:p>
            <a:pPr indent="-97155" lvl="0" marL="91440" rtl="0" algn="l">
              <a:lnSpc>
                <a:spcPct val="90000"/>
              </a:lnSpc>
              <a:spcBef>
                <a:spcPts val="1400"/>
              </a:spcBef>
              <a:spcAft>
                <a:spcPts val="0"/>
              </a:spcAft>
              <a:buClr>
                <a:srgbClr val="FFFFFF"/>
              </a:buClr>
              <a:buSzPct val="81818"/>
              <a:buChar char=" "/>
            </a:pPr>
            <a:r>
              <a:t/>
            </a:r>
            <a:endParaRPr>
              <a:solidFill>
                <a:srgbClr val="FFFFFF"/>
              </a:solidFill>
            </a:endParaRPr>
          </a:p>
        </p:txBody>
      </p:sp>
      <p:pic>
        <p:nvPicPr>
          <p:cNvPr descr="A blue and red logo&#10;&#10;AI-generated content may be incorrect." id="132" name="Google Shape;132;p3"/>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133" name="Google Shape;133;p3"/>
          <p:cNvSpPr txBox="1"/>
          <p:nvPr/>
        </p:nvSpPr>
        <p:spPr>
          <a:xfrm>
            <a:off x="566450" y="589925"/>
            <a:ext cx="20376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PROGRAMMING PROJECT PRESENTATION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39" name="Google Shape;139;p4"/>
          <p:cNvSpPr/>
          <p:nvPr/>
        </p:nvSpPr>
        <p:spPr>
          <a:xfrm>
            <a:off x="2772744" y="484632"/>
            <a:ext cx="8948150" cy="5880916"/>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40" name="Google Shape;140;p4"/>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PROBLEM STATEMENT</a:t>
            </a:r>
            <a:endParaRPr/>
          </a:p>
        </p:txBody>
      </p:sp>
      <p:sp>
        <p:nvSpPr>
          <p:cNvPr id="141" name="Google Shape;141;p4"/>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142" name="Google Shape;142;p4"/>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143" name="Google Shape;143;p4"/>
          <p:cNvSpPr txBox="1"/>
          <p:nvPr>
            <p:ph idx="1" type="body"/>
          </p:nvPr>
        </p:nvSpPr>
        <p:spPr>
          <a:xfrm>
            <a:off x="3469327" y="2489202"/>
            <a:ext cx="7923264" cy="3554614"/>
          </a:xfrm>
          <a:prstGeom prst="rect">
            <a:avLst/>
          </a:prstGeom>
          <a:noFill/>
          <a:ln>
            <a:noFill/>
          </a:ln>
        </p:spPr>
        <p:txBody>
          <a:bodyPr anchorCtr="0" anchor="t" bIns="45700" lIns="45700" spcFirstLastPara="1" rIns="45700" wrap="square" tIns="45700">
            <a:normAutofit fontScale="77500" lnSpcReduction="20000"/>
          </a:bodyPr>
          <a:lstStyle/>
          <a:p>
            <a:pPr indent="0" lvl="0" marL="91440" rtl="0" algn="l">
              <a:lnSpc>
                <a:spcPct val="90000"/>
              </a:lnSpc>
              <a:spcBef>
                <a:spcPts val="0"/>
              </a:spcBef>
              <a:spcAft>
                <a:spcPts val="0"/>
              </a:spcAft>
              <a:buSzPct val="100000"/>
              <a:buNone/>
            </a:pPr>
            <a:r>
              <a:t/>
            </a:r>
            <a:endParaRPr>
              <a:solidFill>
                <a:srgbClr val="FFFFFF"/>
              </a:solidFill>
            </a:endParaRPr>
          </a:p>
          <a:p>
            <a:pPr indent="-88583" lvl="0" marL="91440" rtl="0" algn="l">
              <a:spcBef>
                <a:spcPts val="1400"/>
              </a:spcBef>
              <a:spcAft>
                <a:spcPts val="0"/>
              </a:spcAft>
              <a:buSzPct val="81818"/>
              <a:buChar char=" "/>
            </a:pPr>
            <a:r>
              <a:rPr lang="en-US">
                <a:solidFill>
                  <a:srgbClr val="FFFFFF"/>
                </a:solidFill>
              </a:rPr>
              <a:t>1.</a:t>
            </a:r>
            <a:r>
              <a:rPr lang="en-US">
                <a:solidFill>
                  <a:srgbClr val="FFFFFF"/>
                </a:solidFill>
              </a:rPr>
              <a:t>Employee performance evaluation is often done manually in many organizations.</a:t>
            </a:r>
            <a:endParaRPr>
              <a:solidFill>
                <a:srgbClr val="FFFFFF"/>
              </a:solidFill>
            </a:endParaRPr>
          </a:p>
          <a:p>
            <a:pPr indent="-88583" lvl="0" marL="91440" rtl="0" algn="l">
              <a:spcBef>
                <a:spcPts val="1400"/>
              </a:spcBef>
              <a:spcAft>
                <a:spcPts val="0"/>
              </a:spcAft>
              <a:buSzPct val="81818"/>
              <a:buChar char=" "/>
            </a:pPr>
            <a:r>
              <a:rPr lang="en-US">
                <a:solidFill>
                  <a:srgbClr val="FFFFFF"/>
                </a:solidFill>
              </a:rPr>
              <a:t>2.Manual evaluation is time-consuming and inefficient.</a:t>
            </a:r>
            <a:endParaRPr>
              <a:solidFill>
                <a:srgbClr val="FFFFFF"/>
              </a:solidFill>
            </a:endParaRPr>
          </a:p>
          <a:p>
            <a:pPr indent="-88583" lvl="0" marL="91440" rtl="0" algn="l">
              <a:spcBef>
                <a:spcPts val="1400"/>
              </a:spcBef>
              <a:spcAft>
                <a:spcPts val="0"/>
              </a:spcAft>
              <a:buSzPct val="81818"/>
              <a:buChar char=" "/>
            </a:pPr>
            <a:r>
              <a:rPr lang="en-US">
                <a:solidFill>
                  <a:srgbClr val="FFFFFF"/>
                </a:solidFill>
              </a:rPr>
              <a:t>3.There is a high chance of human errors and bias in rating employees.</a:t>
            </a:r>
            <a:endParaRPr>
              <a:solidFill>
                <a:srgbClr val="FFFFFF"/>
              </a:solidFill>
            </a:endParaRPr>
          </a:p>
          <a:p>
            <a:pPr indent="-88583" lvl="0" marL="91440" rtl="0" algn="l">
              <a:spcBef>
                <a:spcPts val="1400"/>
              </a:spcBef>
              <a:spcAft>
                <a:spcPts val="0"/>
              </a:spcAft>
              <a:buSzPct val="81818"/>
              <a:buChar char=" "/>
            </a:pPr>
            <a:r>
              <a:rPr lang="en-US">
                <a:solidFill>
                  <a:srgbClr val="FFFFFF"/>
                </a:solidFill>
              </a:rPr>
              <a:t>4.Lack of standardization leads to inconsistent performance results.</a:t>
            </a:r>
            <a:endParaRPr>
              <a:solidFill>
                <a:srgbClr val="FFFFFF"/>
              </a:solidFill>
            </a:endParaRPr>
          </a:p>
          <a:p>
            <a:pPr indent="-88583" lvl="0" marL="91440" rtl="0" algn="l">
              <a:spcBef>
                <a:spcPts val="1400"/>
              </a:spcBef>
              <a:spcAft>
                <a:spcPts val="0"/>
              </a:spcAft>
              <a:buSzPct val="81818"/>
              <a:buChar char=" "/>
            </a:pPr>
            <a:r>
              <a:rPr lang="en-US">
                <a:solidFill>
                  <a:srgbClr val="FFFFFF"/>
                </a:solidFill>
              </a:rPr>
              <a:t>5.It becomes difficult to maintain and analyze large employee data.</a:t>
            </a:r>
            <a:endParaRPr>
              <a:solidFill>
                <a:srgbClr val="FFFFFF"/>
              </a:solidFill>
            </a:endParaRPr>
          </a:p>
          <a:p>
            <a:pPr indent="-88583" lvl="0" marL="91440" rtl="0" algn="l">
              <a:spcBef>
                <a:spcPts val="1400"/>
              </a:spcBef>
              <a:spcAft>
                <a:spcPts val="0"/>
              </a:spcAft>
              <a:buSzPct val="81818"/>
              <a:buChar char=" "/>
            </a:pPr>
            <a:r>
              <a:rPr lang="en-US">
                <a:solidFill>
                  <a:srgbClr val="FFFFFF"/>
                </a:solidFill>
              </a:rPr>
              <a:t>6.Decision-making for promotions and rewards is not always accurate.</a:t>
            </a:r>
            <a:endParaRPr>
              <a:solidFill>
                <a:srgbClr val="FFFFFF"/>
              </a:solidFill>
            </a:endParaRPr>
          </a:p>
          <a:p>
            <a:pPr indent="-88583" lvl="0" marL="91440" rtl="0" algn="l">
              <a:spcBef>
                <a:spcPts val="1400"/>
              </a:spcBef>
              <a:spcAft>
                <a:spcPts val="0"/>
              </a:spcAft>
              <a:buSzPct val="81818"/>
              <a:buChar char=" "/>
            </a:pPr>
            <a:r>
              <a:rPr lang="en-US">
                <a:solidFill>
                  <a:srgbClr val="FFFFFF"/>
                </a:solidFill>
              </a:rPr>
              <a:t>7.</a:t>
            </a:r>
            <a:r>
              <a:rPr lang="en-US">
                <a:solidFill>
                  <a:srgbClr val="FFFFFF"/>
                </a:solidFill>
              </a:rPr>
              <a:t>T</a:t>
            </a:r>
            <a:r>
              <a:rPr lang="en-US">
                <a:solidFill>
                  <a:srgbClr val="FFFFFF"/>
                </a:solidFill>
              </a:rPr>
              <a:t>here is a need for an automated and reliable system to evaluate performance fairly and quickly.</a:t>
            </a:r>
            <a:endParaRPr>
              <a:solidFill>
                <a:srgbClr val="FFFFFF"/>
              </a:solidFill>
            </a:endParaRPr>
          </a:p>
          <a:p>
            <a:pPr indent="-88583" lvl="0" marL="91440" rtl="0" algn="l">
              <a:lnSpc>
                <a:spcPct val="90000"/>
              </a:lnSpc>
              <a:spcBef>
                <a:spcPts val="1400"/>
              </a:spcBef>
              <a:spcAft>
                <a:spcPts val="0"/>
              </a:spcAft>
              <a:buClr>
                <a:srgbClr val="FFFFFF"/>
              </a:buClr>
              <a:buSzPct val="81818"/>
              <a:buChar char=" "/>
            </a:pPr>
            <a:r>
              <a:t/>
            </a:r>
            <a:endParaRPr>
              <a:solidFill>
                <a:srgbClr val="FFFFFF"/>
              </a:solidFill>
            </a:endParaRPr>
          </a:p>
        </p:txBody>
      </p:sp>
      <p:pic>
        <p:nvPicPr>
          <p:cNvPr descr="A blue and red logo&#10;&#10;AI-generated content may be incorrect." id="144" name="Google Shape;144;p4"/>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145" name="Google Shape;145;p4"/>
          <p:cNvSpPr txBox="1"/>
          <p:nvPr/>
        </p:nvSpPr>
        <p:spPr>
          <a:xfrm>
            <a:off x="566450" y="589925"/>
            <a:ext cx="20376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a:t>
            </a:r>
            <a:r>
              <a:rPr lang="en-US" sz="2000">
                <a:solidFill>
                  <a:srgbClr val="FFFFFF"/>
                </a:solidFill>
                <a:latin typeface="Twentieth Century"/>
                <a:ea typeface="Twentieth Century"/>
                <a:cs typeface="Twentieth Century"/>
                <a:sym typeface="Twentieth Century"/>
              </a:rPr>
              <a:t>N</a:t>
            </a:r>
            <a:r>
              <a:rPr b="0" i="0" lang="en-US" sz="2000" u="none" cap="none" strike="noStrike">
                <a:solidFill>
                  <a:srgbClr val="FFFFFF"/>
                </a:solidFill>
                <a:latin typeface="Twentieth Century"/>
                <a:ea typeface="Twentieth Century"/>
                <a:cs typeface="Twentieth Century"/>
                <a:sym typeface="Twentieth Century"/>
              </a:rPr>
              <a:t>G PROJECT PRESENTATION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51" name="Google Shape;151;p5"/>
          <p:cNvSpPr/>
          <p:nvPr/>
        </p:nvSpPr>
        <p:spPr>
          <a:xfrm>
            <a:off x="2772744" y="484632"/>
            <a:ext cx="8948150" cy="5880916"/>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52" name="Google Shape;152;p5"/>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SYSTEM REQUIREMENTS</a:t>
            </a:r>
            <a:endParaRPr/>
          </a:p>
        </p:txBody>
      </p:sp>
      <p:sp>
        <p:nvSpPr>
          <p:cNvPr id="153" name="Google Shape;153;p5"/>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154" name="Google Shape;154;p5"/>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155" name="Google Shape;155;p5"/>
          <p:cNvSpPr txBox="1"/>
          <p:nvPr>
            <p:ph idx="1" type="body"/>
          </p:nvPr>
        </p:nvSpPr>
        <p:spPr>
          <a:xfrm>
            <a:off x="3469327" y="2489202"/>
            <a:ext cx="7923300" cy="355470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1500"/>
              <a:buNone/>
            </a:pPr>
            <a:r>
              <a:t/>
            </a:r>
            <a:endParaRPr sz="1500">
              <a:solidFill>
                <a:srgbClr val="FFFFFF"/>
              </a:solidFill>
            </a:endParaRPr>
          </a:p>
          <a:p>
            <a:pPr indent="-95250" lvl="0" marL="91440" rtl="0" algn="l">
              <a:lnSpc>
                <a:spcPct val="90000"/>
              </a:lnSpc>
              <a:spcBef>
                <a:spcPts val="1400"/>
              </a:spcBef>
              <a:spcAft>
                <a:spcPts val="0"/>
              </a:spcAft>
              <a:buSzPts val="1500"/>
              <a:buChar char=" "/>
            </a:pPr>
            <a:r>
              <a:rPr lang="en-US" sz="1500">
                <a:solidFill>
                  <a:srgbClr val="FFFFFF"/>
                </a:solidFill>
              </a:rPr>
              <a:t>Hardware Requirements:</a:t>
            </a:r>
            <a:endParaRPr/>
          </a:p>
          <a:p>
            <a:pPr indent="-95250" lvl="0" marL="91440" rtl="0" algn="l">
              <a:lnSpc>
                <a:spcPct val="90000"/>
              </a:lnSpc>
              <a:spcBef>
                <a:spcPts val="1400"/>
              </a:spcBef>
              <a:spcAft>
                <a:spcPts val="0"/>
              </a:spcAft>
              <a:buSzPts val="1500"/>
              <a:buChar char=" "/>
            </a:pPr>
            <a:r>
              <a:rPr lang="en-US" sz="1500">
                <a:solidFill>
                  <a:srgbClr val="FFFFFF"/>
                </a:solidFill>
              </a:rPr>
              <a:t>• Processor: Intel i3 or higher</a:t>
            </a:r>
            <a:endParaRPr/>
          </a:p>
          <a:p>
            <a:pPr indent="-95250" lvl="0" marL="91440" rtl="0" algn="l">
              <a:lnSpc>
                <a:spcPct val="90000"/>
              </a:lnSpc>
              <a:spcBef>
                <a:spcPts val="1400"/>
              </a:spcBef>
              <a:spcAft>
                <a:spcPts val="0"/>
              </a:spcAft>
              <a:buSzPts val="1500"/>
              <a:buChar char=" "/>
            </a:pPr>
            <a:r>
              <a:rPr lang="en-US" sz="1500">
                <a:solidFill>
                  <a:srgbClr val="FFFFFF"/>
                </a:solidFill>
              </a:rPr>
              <a:t>• RAM: 4 GB minimum</a:t>
            </a:r>
            <a:endParaRPr/>
          </a:p>
          <a:p>
            <a:pPr indent="-95250" lvl="0" marL="91440" rtl="0" algn="l">
              <a:lnSpc>
                <a:spcPct val="90000"/>
              </a:lnSpc>
              <a:spcBef>
                <a:spcPts val="1400"/>
              </a:spcBef>
              <a:spcAft>
                <a:spcPts val="0"/>
              </a:spcAft>
              <a:buSzPts val="1500"/>
              <a:buChar char=" "/>
            </a:pPr>
            <a:r>
              <a:rPr lang="en-US" sz="1500">
                <a:solidFill>
                  <a:srgbClr val="FFFFFF"/>
                </a:solidFill>
              </a:rPr>
              <a:t>• Storage: 500 MB free space</a:t>
            </a:r>
            <a:endParaRPr/>
          </a:p>
          <a:p>
            <a:pPr indent="0" lvl="0" marL="91440" rtl="0" algn="l">
              <a:lnSpc>
                <a:spcPct val="90000"/>
              </a:lnSpc>
              <a:spcBef>
                <a:spcPts val="1400"/>
              </a:spcBef>
              <a:spcAft>
                <a:spcPts val="0"/>
              </a:spcAft>
              <a:buSzPts val="1500"/>
              <a:buNone/>
            </a:pPr>
            <a:r>
              <a:t/>
            </a:r>
            <a:endParaRPr sz="1500">
              <a:solidFill>
                <a:srgbClr val="FFFFFF"/>
              </a:solidFill>
            </a:endParaRPr>
          </a:p>
          <a:p>
            <a:pPr indent="-95250" lvl="0" marL="91440" rtl="0" algn="l">
              <a:lnSpc>
                <a:spcPct val="90000"/>
              </a:lnSpc>
              <a:spcBef>
                <a:spcPts val="1400"/>
              </a:spcBef>
              <a:spcAft>
                <a:spcPts val="0"/>
              </a:spcAft>
              <a:buSzPts val="1500"/>
              <a:buChar char=" "/>
            </a:pPr>
            <a:r>
              <a:rPr lang="en-US" sz="1500">
                <a:solidFill>
                  <a:srgbClr val="FFFFFF"/>
                </a:solidFill>
              </a:rPr>
              <a:t>Software Requirements:</a:t>
            </a:r>
            <a:endParaRPr/>
          </a:p>
          <a:p>
            <a:pPr indent="-95250" lvl="0" marL="91440" rtl="0" algn="l">
              <a:lnSpc>
                <a:spcPct val="90000"/>
              </a:lnSpc>
              <a:spcBef>
                <a:spcPts val="1400"/>
              </a:spcBef>
              <a:spcAft>
                <a:spcPts val="0"/>
              </a:spcAft>
              <a:buSzPts val="1500"/>
              <a:buChar char=" "/>
            </a:pPr>
            <a:r>
              <a:rPr lang="en-US" sz="1500">
                <a:solidFill>
                  <a:srgbClr val="FFFFFF"/>
                </a:solidFill>
              </a:rPr>
              <a:t>• OS: Windows / Linux</a:t>
            </a:r>
            <a:endParaRPr/>
          </a:p>
          <a:p>
            <a:pPr indent="-95250" lvl="0" marL="91440" rtl="0" algn="l">
              <a:lnSpc>
                <a:spcPct val="90000"/>
              </a:lnSpc>
              <a:spcBef>
                <a:spcPts val="1400"/>
              </a:spcBef>
              <a:spcAft>
                <a:spcPts val="0"/>
              </a:spcAft>
              <a:buSzPts val="1500"/>
              <a:buChar char=" "/>
            </a:pPr>
            <a:r>
              <a:rPr lang="en-US" sz="1500">
                <a:solidFill>
                  <a:srgbClr val="FFFFFF"/>
                </a:solidFill>
              </a:rPr>
              <a:t>• Compiler: GCC / Turbo C / Code::Blocks / Dev C++</a:t>
            </a:r>
            <a:endParaRPr/>
          </a:p>
        </p:txBody>
      </p:sp>
      <p:pic>
        <p:nvPicPr>
          <p:cNvPr descr="A blue and red logo&#10;&#10;AI-generated content may be incorrect." id="156" name="Google Shape;156;p5"/>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157" name="Google Shape;157;p5"/>
          <p:cNvSpPr txBox="1"/>
          <p:nvPr/>
        </p:nvSpPr>
        <p:spPr>
          <a:xfrm>
            <a:off x="566450" y="589925"/>
            <a:ext cx="19839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PROGRAMMING PROJECT PRESENTATION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63" name="Google Shape;163;p6"/>
          <p:cNvSpPr/>
          <p:nvPr/>
        </p:nvSpPr>
        <p:spPr>
          <a:xfrm>
            <a:off x="2772744" y="484632"/>
            <a:ext cx="8948100" cy="5880900"/>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64" name="Google Shape;164;p6"/>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SYSTEM DESIGN</a:t>
            </a:r>
            <a:endParaRPr/>
          </a:p>
        </p:txBody>
      </p:sp>
      <p:sp>
        <p:nvSpPr>
          <p:cNvPr id="165" name="Google Shape;165;p6"/>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166" name="Google Shape;166;p6"/>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167" name="Google Shape;167;p6"/>
          <p:cNvSpPr txBox="1"/>
          <p:nvPr>
            <p:ph idx="1" type="body"/>
          </p:nvPr>
        </p:nvSpPr>
        <p:spPr>
          <a:xfrm>
            <a:off x="3469327" y="2489202"/>
            <a:ext cx="7923300" cy="3554700"/>
          </a:xfrm>
          <a:prstGeom prst="rect">
            <a:avLst/>
          </a:prstGeom>
          <a:noFill/>
          <a:ln>
            <a:noFill/>
          </a:ln>
        </p:spPr>
        <p:txBody>
          <a:bodyPr anchorCtr="0" anchor="t" bIns="45700" lIns="45700" spcFirstLastPara="1" rIns="45700" wrap="square" tIns="45700">
            <a:normAutofit fontScale="70000" lnSpcReduction="20000"/>
          </a:bodyPr>
          <a:lstStyle/>
          <a:p>
            <a:pPr indent="0" lvl="0" marL="91440" rtl="0" algn="l">
              <a:lnSpc>
                <a:spcPct val="90000"/>
              </a:lnSpc>
              <a:spcBef>
                <a:spcPts val="0"/>
              </a:spcBef>
              <a:spcAft>
                <a:spcPts val="0"/>
              </a:spcAft>
              <a:buSzPct val="100000"/>
              <a:buNone/>
            </a:pPr>
            <a:r>
              <a:t/>
            </a:r>
            <a:endParaRPr>
              <a:solidFill>
                <a:srgbClr val="FFFFFF"/>
              </a:solidFill>
            </a:endParaRPr>
          </a:p>
          <a:p>
            <a:pPr indent="-114851" lvl="0" marL="91440" rtl="0" algn="l">
              <a:lnSpc>
                <a:spcPct val="115000"/>
              </a:lnSpc>
              <a:spcBef>
                <a:spcPts val="1200"/>
              </a:spcBef>
              <a:spcAft>
                <a:spcPts val="0"/>
              </a:spcAft>
              <a:buClr>
                <a:schemeClr val="lt1"/>
              </a:buClr>
              <a:buSzPct val="137159"/>
              <a:buChar char=" "/>
            </a:pPr>
            <a:r>
              <a:rPr lang="en-US" sz="1884">
                <a:latin typeface="Arial"/>
                <a:ea typeface="Arial"/>
                <a:cs typeface="Arial"/>
                <a:sym typeface="Arial"/>
              </a:rPr>
              <a:t>START</a:t>
            </a:r>
            <a:br>
              <a:rPr lang="en-US" sz="1884">
                <a:latin typeface="Arial"/>
                <a:ea typeface="Arial"/>
                <a:cs typeface="Arial"/>
                <a:sym typeface="Arial"/>
              </a:rPr>
            </a:br>
            <a:r>
              <a:rPr lang="en-US" sz="1884">
                <a:latin typeface="Arial"/>
                <a:ea typeface="Arial"/>
                <a:cs typeface="Arial"/>
                <a:sym typeface="Arial"/>
              </a:rPr>
              <a:t>↓</a:t>
            </a:r>
            <a:br>
              <a:rPr lang="en-US" sz="1884">
                <a:latin typeface="Arial"/>
                <a:ea typeface="Arial"/>
                <a:cs typeface="Arial"/>
                <a:sym typeface="Arial"/>
              </a:rPr>
            </a:br>
            <a:r>
              <a:rPr lang="en-US" sz="1884">
                <a:latin typeface="Arial"/>
                <a:ea typeface="Arial"/>
                <a:cs typeface="Arial"/>
                <a:sym typeface="Arial"/>
              </a:rPr>
              <a:t>Enter number of employees</a:t>
            </a:r>
            <a:br>
              <a:rPr lang="en-US" sz="1884">
                <a:latin typeface="Arial"/>
                <a:ea typeface="Arial"/>
                <a:cs typeface="Arial"/>
                <a:sym typeface="Arial"/>
              </a:rPr>
            </a:br>
            <a:r>
              <a:rPr lang="en-US" sz="1884">
                <a:latin typeface="Arial"/>
                <a:ea typeface="Arial"/>
                <a:cs typeface="Arial"/>
                <a:sym typeface="Arial"/>
              </a:rPr>
              <a:t>↓</a:t>
            </a:r>
            <a:br>
              <a:rPr lang="en-US" sz="1884">
                <a:latin typeface="Arial"/>
                <a:ea typeface="Arial"/>
                <a:cs typeface="Arial"/>
                <a:sym typeface="Arial"/>
              </a:rPr>
            </a:br>
            <a:r>
              <a:rPr lang="en-US" sz="1884">
                <a:latin typeface="Arial"/>
                <a:ea typeface="Arial"/>
                <a:cs typeface="Arial"/>
                <a:sym typeface="Arial"/>
              </a:rPr>
              <a:t>Enter employee details (ID, Name, Score)</a:t>
            </a:r>
            <a:br>
              <a:rPr lang="en-US" sz="1884">
                <a:latin typeface="Arial"/>
                <a:ea typeface="Arial"/>
                <a:cs typeface="Arial"/>
                <a:sym typeface="Arial"/>
              </a:rPr>
            </a:br>
            <a:r>
              <a:rPr lang="en-US" sz="1884">
                <a:latin typeface="Arial"/>
                <a:ea typeface="Arial"/>
                <a:cs typeface="Arial"/>
                <a:sym typeface="Arial"/>
              </a:rPr>
              <a:t>↓</a:t>
            </a:r>
            <a:br>
              <a:rPr lang="en-US" sz="1884">
                <a:latin typeface="Arial"/>
                <a:ea typeface="Arial"/>
                <a:cs typeface="Arial"/>
                <a:sym typeface="Arial"/>
              </a:rPr>
            </a:br>
            <a:r>
              <a:rPr lang="en-US" sz="1884">
                <a:latin typeface="Arial"/>
                <a:ea typeface="Arial"/>
                <a:cs typeface="Arial"/>
                <a:sym typeface="Arial"/>
              </a:rPr>
              <a:t>Calculate performance rating</a:t>
            </a:r>
            <a:br>
              <a:rPr lang="en-US" sz="1884">
                <a:latin typeface="Arial"/>
                <a:ea typeface="Arial"/>
                <a:cs typeface="Arial"/>
                <a:sym typeface="Arial"/>
              </a:rPr>
            </a:br>
            <a:r>
              <a:rPr lang="en-US" sz="1884">
                <a:latin typeface="Arial"/>
                <a:ea typeface="Arial"/>
                <a:cs typeface="Arial"/>
                <a:sym typeface="Arial"/>
              </a:rPr>
              <a:t>↓</a:t>
            </a:r>
            <a:br>
              <a:rPr lang="en-US" sz="1884">
                <a:latin typeface="Arial"/>
                <a:ea typeface="Arial"/>
                <a:cs typeface="Arial"/>
                <a:sym typeface="Arial"/>
              </a:rPr>
            </a:br>
            <a:r>
              <a:rPr lang="en-US" sz="1884">
                <a:latin typeface="Arial"/>
                <a:ea typeface="Arial"/>
                <a:cs typeface="Arial"/>
                <a:sym typeface="Arial"/>
              </a:rPr>
              <a:t>Store employee data</a:t>
            </a:r>
            <a:br>
              <a:rPr lang="en-US" sz="1884">
                <a:latin typeface="Arial"/>
                <a:ea typeface="Arial"/>
                <a:cs typeface="Arial"/>
                <a:sym typeface="Arial"/>
              </a:rPr>
            </a:br>
            <a:r>
              <a:rPr lang="en-US" sz="1884">
                <a:latin typeface="Arial"/>
                <a:ea typeface="Arial"/>
                <a:cs typeface="Arial"/>
                <a:sym typeface="Arial"/>
              </a:rPr>
              <a:t>↓</a:t>
            </a:r>
            <a:br>
              <a:rPr lang="en-US" sz="1884">
                <a:latin typeface="Arial"/>
                <a:ea typeface="Arial"/>
                <a:cs typeface="Arial"/>
                <a:sym typeface="Arial"/>
              </a:rPr>
            </a:br>
            <a:r>
              <a:rPr lang="en-US" sz="1884">
                <a:latin typeface="Arial"/>
                <a:ea typeface="Arial"/>
                <a:cs typeface="Arial"/>
                <a:sym typeface="Arial"/>
              </a:rPr>
              <a:t>Display final report (ID, Name, Score, Rating)</a:t>
            </a:r>
            <a:br>
              <a:rPr lang="en-US" sz="1884">
                <a:latin typeface="Arial"/>
                <a:ea typeface="Arial"/>
                <a:cs typeface="Arial"/>
                <a:sym typeface="Arial"/>
              </a:rPr>
            </a:br>
            <a:r>
              <a:rPr lang="en-US" sz="1884">
                <a:latin typeface="Arial"/>
                <a:ea typeface="Arial"/>
                <a:cs typeface="Arial"/>
                <a:sym typeface="Arial"/>
              </a:rPr>
              <a:t>↓</a:t>
            </a:r>
            <a:br>
              <a:rPr lang="en-US" sz="1884">
                <a:latin typeface="Arial"/>
                <a:ea typeface="Arial"/>
                <a:cs typeface="Arial"/>
                <a:sym typeface="Arial"/>
              </a:rPr>
            </a:br>
            <a:r>
              <a:rPr lang="en-US" sz="1884">
                <a:latin typeface="Arial"/>
                <a:ea typeface="Arial"/>
                <a:cs typeface="Arial"/>
                <a:sym typeface="Arial"/>
              </a:rPr>
              <a:t>END</a:t>
            </a:r>
            <a:endParaRPr sz="1884">
              <a:latin typeface="Arial"/>
              <a:ea typeface="Arial"/>
              <a:cs typeface="Arial"/>
              <a:sym typeface="Arial"/>
            </a:endParaRPr>
          </a:p>
          <a:p>
            <a:pPr indent="-114851" lvl="0" marL="91440" rtl="0" algn="l">
              <a:lnSpc>
                <a:spcPct val="90000"/>
              </a:lnSpc>
              <a:spcBef>
                <a:spcPts val="1400"/>
              </a:spcBef>
              <a:spcAft>
                <a:spcPts val="0"/>
              </a:spcAft>
              <a:buClr>
                <a:schemeClr val="lt1"/>
              </a:buClr>
              <a:buSzPct val="86594"/>
              <a:buChar char=" "/>
            </a:pPr>
            <a:r>
              <a:t/>
            </a:r>
            <a:endParaRPr sz="2984"/>
          </a:p>
        </p:txBody>
      </p:sp>
      <p:pic>
        <p:nvPicPr>
          <p:cNvPr descr="A blue and red logo&#10;&#10;AI-generated content may be incorrect." id="168" name="Google Shape;168;p6"/>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169" name="Google Shape;169;p6"/>
          <p:cNvSpPr txBox="1"/>
          <p:nvPr/>
        </p:nvSpPr>
        <p:spPr>
          <a:xfrm>
            <a:off x="566450" y="589925"/>
            <a:ext cx="20376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PROGRAMMING PROJECT PRESENTATION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75" name="Google Shape;175;p7"/>
          <p:cNvSpPr/>
          <p:nvPr/>
        </p:nvSpPr>
        <p:spPr>
          <a:xfrm>
            <a:off x="2772744" y="484632"/>
            <a:ext cx="8948150" cy="5880916"/>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76" name="Google Shape;176;p7"/>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MODULE DESCRIPTION</a:t>
            </a:r>
            <a:endParaRPr/>
          </a:p>
        </p:txBody>
      </p:sp>
      <p:sp>
        <p:nvSpPr>
          <p:cNvPr id="177" name="Google Shape;177;p7"/>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178" name="Google Shape;178;p7"/>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179" name="Google Shape;179;p7"/>
          <p:cNvSpPr txBox="1"/>
          <p:nvPr>
            <p:ph idx="1" type="body"/>
          </p:nvPr>
        </p:nvSpPr>
        <p:spPr>
          <a:xfrm>
            <a:off x="3469327" y="2489202"/>
            <a:ext cx="7923264" cy="3554614"/>
          </a:xfrm>
          <a:prstGeom prst="rect">
            <a:avLst/>
          </a:prstGeom>
          <a:noFill/>
          <a:ln>
            <a:noFill/>
          </a:ln>
        </p:spPr>
        <p:txBody>
          <a:bodyPr anchorCtr="0" anchor="t" bIns="45700" lIns="45700" spcFirstLastPara="1" rIns="45700" wrap="square" tIns="45700">
            <a:normAutofit lnSpcReduction="10000"/>
          </a:bodyPr>
          <a:lstStyle/>
          <a:p>
            <a:pPr indent="0" lvl="0" marL="91440" rtl="0" algn="l">
              <a:lnSpc>
                <a:spcPct val="90000"/>
              </a:lnSpc>
              <a:spcBef>
                <a:spcPts val="0"/>
              </a:spcBef>
              <a:spcAft>
                <a:spcPts val="0"/>
              </a:spcAft>
              <a:buSzPts val="2200"/>
              <a:buNone/>
            </a:pPr>
            <a:r>
              <a:t/>
            </a:r>
            <a:endParaRPr>
              <a:solidFill>
                <a:srgbClr val="FFFFFF"/>
              </a:solidFill>
            </a:endParaRPr>
          </a:p>
          <a:p>
            <a:pPr indent="-120650" lvl="0" marL="91440" rtl="0" algn="l">
              <a:lnSpc>
                <a:spcPct val="115000"/>
              </a:lnSpc>
              <a:spcBef>
                <a:spcPts val="1200"/>
              </a:spcBef>
              <a:spcAft>
                <a:spcPts val="0"/>
              </a:spcAft>
              <a:buClr>
                <a:schemeClr val="lt1"/>
              </a:buClr>
              <a:buSzPts val="1900"/>
              <a:buFont typeface="Arial"/>
              <a:buChar char=" "/>
            </a:pPr>
            <a:r>
              <a:rPr b="1" lang="en-US" sz="1900">
                <a:latin typeface="Arial"/>
                <a:ea typeface="Arial"/>
                <a:cs typeface="Arial"/>
                <a:sym typeface="Arial"/>
              </a:rPr>
              <a:t>Input Module:</a:t>
            </a:r>
            <a:r>
              <a:rPr lang="en-US" sz="1900">
                <a:latin typeface="Arial"/>
                <a:ea typeface="Arial"/>
                <a:cs typeface="Arial"/>
                <a:sym typeface="Arial"/>
              </a:rPr>
              <a:t> Takes employee details such as ID, Name, and Performance Score.</a:t>
            </a:r>
            <a:endParaRPr sz="1900">
              <a:latin typeface="Arial"/>
              <a:ea typeface="Arial"/>
              <a:cs typeface="Arial"/>
              <a:sym typeface="Arial"/>
            </a:endParaRPr>
          </a:p>
          <a:p>
            <a:pPr indent="-120650" lvl="0" marL="91440" rtl="0" algn="l">
              <a:lnSpc>
                <a:spcPct val="115000"/>
              </a:lnSpc>
              <a:spcBef>
                <a:spcPts val="0"/>
              </a:spcBef>
              <a:spcAft>
                <a:spcPts val="0"/>
              </a:spcAft>
              <a:buClr>
                <a:schemeClr val="lt1"/>
              </a:buClr>
              <a:buSzPts val="1900"/>
              <a:buFont typeface="Arial"/>
              <a:buChar char=" "/>
            </a:pPr>
            <a:r>
              <a:rPr b="1" lang="en-US" sz="1900">
                <a:latin typeface="Arial"/>
                <a:ea typeface="Arial"/>
                <a:cs typeface="Arial"/>
                <a:sym typeface="Arial"/>
              </a:rPr>
              <a:t>Processing Module:</a:t>
            </a:r>
            <a:r>
              <a:rPr lang="en-US" sz="1900">
                <a:latin typeface="Arial"/>
                <a:ea typeface="Arial"/>
                <a:cs typeface="Arial"/>
                <a:sym typeface="Arial"/>
              </a:rPr>
              <a:t> Calculates performance rating based on the score.</a:t>
            </a:r>
            <a:endParaRPr sz="1900">
              <a:latin typeface="Arial"/>
              <a:ea typeface="Arial"/>
              <a:cs typeface="Arial"/>
              <a:sym typeface="Arial"/>
            </a:endParaRPr>
          </a:p>
          <a:p>
            <a:pPr indent="-120650" lvl="0" marL="91440" rtl="0" algn="l">
              <a:lnSpc>
                <a:spcPct val="115000"/>
              </a:lnSpc>
              <a:spcBef>
                <a:spcPts val="0"/>
              </a:spcBef>
              <a:spcAft>
                <a:spcPts val="0"/>
              </a:spcAft>
              <a:buClr>
                <a:schemeClr val="lt1"/>
              </a:buClr>
              <a:buSzPts val="1900"/>
              <a:buFont typeface="Arial"/>
              <a:buChar char=" "/>
            </a:pPr>
            <a:r>
              <a:rPr b="1" lang="en-US" sz="1900">
                <a:latin typeface="Arial"/>
                <a:ea typeface="Arial"/>
                <a:cs typeface="Arial"/>
                <a:sym typeface="Arial"/>
              </a:rPr>
              <a:t>Evaluation Module:</a:t>
            </a:r>
            <a:r>
              <a:rPr lang="en-US" sz="1900">
                <a:latin typeface="Arial"/>
                <a:ea typeface="Arial"/>
                <a:cs typeface="Arial"/>
                <a:sym typeface="Arial"/>
              </a:rPr>
              <a:t> Assigns ratings like Excellent, Good, Average, etc.</a:t>
            </a:r>
            <a:endParaRPr sz="1900">
              <a:latin typeface="Arial"/>
              <a:ea typeface="Arial"/>
              <a:cs typeface="Arial"/>
              <a:sym typeface="Arial"/>
            </a:endParaRPr>
          </a:p>
          <a:p>
            <a:pPr indent="-120650" lvl="0" marL="91440" rtl="0" algn="l">
              <a:lnSpc>
                <a:spcPct val="115000"/>
              </a:lnSpc>
              <a:spcBef>
                <a:spcPts val="0"/>
              </a:spcBef>
              <a:spcAft>
                <a:spcPts val="0"/>
              </a:spcAft>
              <a:buClr>
                <a:schemeClr val="lt1"/>
              </a:buClr>
              <a:buSzPts val="1900"/>
              <a:buFont typeface="Arial"/>
              <a:buChar char=" "/>
            </a:pPr>
            <a:r>
              <a:rPr b="1" lang="en-US" sz="1900">
                <a:latin typeface="Arial"/>
                <a:ea typeface="Arial"/>
                <a:cs typeface="Arial"/>
                <a:sym typeface="Arial"/>
              </a:rPr>
              <a:t>Storage Module:</a:t>
            </a:r>
            <a:r>
              <a:rPr lang="en-US" sz="1900">
                <a:latin typeface="Arial"/>
                <a:ea typeface="Arial"/>
                <a:cs typeface="Arial"/>
                <a:sym typeface="Arial"/>
              </a:rPr>
              <a:t> Stores employee data temporarily using objects/arrays.</a:t>
            </a:r>
            <a:endParaRPr sz="1900">
              <a:latin typeface="Arial"/>
              <a:ea typeface="Arial"/>
              <a:cs typeface="Arial"/>
              <a:sym typeface="Arial"/>
            </a:endParaRPr>
          </a:p>
          <a:p>
            <a:pPr indent="-120650" lvl="0" marL="91440" rtl="0" algn="l">
              <a:lnSpc>
                <a:spcPct val="115000"/>
              </a:lnSpc>
              <a:spcBef>
                <a:spcPts val="0"/>
              </a:spcBef>
              <a:spcAft>
                <a:spcPts val="0"/>
              </a:spcAft>
              <a:buClr>
                <a:schemeClr val="lt1"/>
              </a:buClr>
              <a:buSzPts val="1900"/>
              <a:buFont typeface="Arial"/>
              <a:buChar char=" "/>
            </a:pPr>
            <a:r>
              <a:rPr b="1" lang="en-US" sz="1900">
                <a:latin typeface="Arial"/>
                <a:ea typeface="Arial"/>
                <a:cs typeface="Arial"/>
                <a:sym typeface="Arial"/>
              </a:rPr>
              <a:t>Output Module:</a:t>
            </a:r>
            <a:r>
              <a:rPr lang="en-US" sz="1900">
                <a:latin typeface="Arial"/>
                <a:ea typeface="Arial"/>
                <a:cs typeface="Arial"/>
                <a:sym typeface="Arial"/>
              </a:rPr>
              <a:t> Displays final employee report with ratings. </a:t>
            </a:r>
            <a:endParaRPr sz="1900">
              <a:latin typeface="Arial"/>
              <a:ea typeface="Arial"/>
              <a:cs typeface="Arial"/>
              <a:sym typeface="Arial"/>
            </a:endParaRPr>
          </a:p>
          <a:p>
            <a:pPr indent="-120650" lvl="0" marL="91440" rtl="0" algn="l">
              <a:lnSpc>
                <a:spcPct val="90000"/>
              </a:lnSpc>
              <a:spcBef>
                <a:spcPts val="1400"/>
              </a:spcBef>
              <a:spcAft>
                <a:spcPts val="0"/>
              </a:spcAft>
              <a:buClr>
                <a:schemeClr val="lt1"/>
              </a:buClr>
              <a:buSzPts val="1900"/>
              <a:buChar char=" "/>
            </a:pPr>
            <a:r>
              <a:t/>
            </a:r>
            <a:endParaRPr sz="1900"/>
          </a:p>
        </p:txBody>
      </p:sp>
      <p:pic>
        <p:nvPicPr>
          <p:cNvPr descr="A blue and red logo&#10;&#10;AI-generated content may be incorrect." id="180" name="Google Shape;180;p7"/>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181" name="Google Shape;181;p7"/>
          <p:cNvSpPr txBox="1"/>
          <p:nvPr/>
        </p:nvSpPr>
        <p:spPr>
          <a:xfrm>
            <a:off x="566450" y="589925"/>
            <a:ext cx="20376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PROGRAMMING PROJECT PRESENTATION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87" name="Google Shape;187;p8"/>
          <p:cNvSpPr/>
          <p:nvPr/>
        </p:nvSpPr>
        <p:spPr>
          <a:xfrm>
            <a:off x="2772744" y="484632"/>
            <a:ext cx="8948150" cy="5880916"/>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88" name="Google Shape;188;p8"/>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ALGORITHM / FLOWCHART</a:t>
            </a:r>
            <a:endParaRPr/>
          </a:p>
        </p:txBody>
      </p:sp>
      <p:sp>
        <p:nvSpPr>
          <p:cNvPr id="189" name="Google Shape;189;p8"/>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190" name="Google Shape;190;p8"/>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191" name="Google Shape;191;p8"/>
          <p:cNvSpPr txBox="1"/>
          <p:nvPr>
            <p:ph idx="1" type="body"/>
          </p:nvPr>
        </p:nvSpPr>
        <p:spPr>
          <a:xfrm>
            <a:off x="3154075" y="1943926"/>
            <a:ext cx="8185500" cy="3755700"/>
          </a:xfrm>
          <a:prstGeom prst="rect">
            <a:avLst/>
          </a:prstGeom>
          <a:noFill/>
          <a:ln>
            <a:noFill/>
          </a:ln>
        </p:spPr>
        <p:txBody>
          <a:bodyPr anchorCtr="0" anchor="t" bIns="45700" lIns="45700" spcFirstLastPara="1" rIns="45700" wrap="square" tIns="45700">
            <a:normAutofit fontScale="25000" lnSpcReduction="20000"/>
          </a:bodyPr>
          <a:lstStyle/>
          <a:p>
            <a:pPr indent="0" lvl="0" marL="91440" rtl="0" algn="l">
              <a:lnSpc>
                <a:spcPct val="90000"/>
              </a:lnSpc>
              <a:spcBef>
                <a:spcPts val="0"/>
              </a:spcBef>
              <a:spcAft>
                <a:spcPts val="0"/>
              </a:spcAft>
              <a:buSzPct val="100000"/>
              <a:buNone/>
            </a:pPr>
            <a:r>
              <a:t/>
            </a:r>
            <a:endParaRPr>
              <a:solidFill>
                <a:srgbClr val="FFFFFF"/>
              </a:solidFill>
            </a:endParaRPr>
          </a:p>
          <a:p>
            <a:pPr indent="-355600" lvl="0" marL="457200" rtl="0" algn="l">
              <a:lnSpc>
                <a:spcPct val="115000"/>
              </a:lnSpc>
              <a:spcBef>
                <a:spcPts val="1200"/>
              </a:spcBef>
              <a:spcAft>
                <a:spcPts val="0"/>
              </a:spcAft>
              <a:buClr>
                <a:schemeClr val="lt1"/>
              </a:buClr>
              <a:buSzPct val="100000"/>
              <a:buFont typeface="Arial"/>
              <a:buAutoNum type="arabicPeriod"/>
            </a:pPr>
            <a:r>
              <a:rPr lang="en-US" sz="8000">
                <a:latin typeface="Arial"/>
                <a:ea typeface="Arial"/>
                <a:cs typeface="Arial"/>
                <a:sym typeface="Arial"/>
              </a:rPr>
              <a:t>Start</a:t>
            </a:r>
            <a:endParaRPr sz="8000">
              <a:latin typeface="Arial"/>
              <a:ea typeface="Arial"/>
              <a:cs typeface="Arial"/>
              <a:sym typeface="Arial"/>
            </a:endParaRPr>
          </a:p>
          <a:p>
            <a:pPr indent="-355600" lvl="0" marL="457200" rtl="0" algn="l">
              <a:lnSpc>
                <a:spcPct val="115000"/>
              </a:lnSpc>
              <a:spcBef>
                <a:spcPts val="0"/>
              </a:spcBef>
              <a:spcAft>
                <a:spcPts val="0"/>
              </a:spcAft>
              <a:buClr>
                <a:schemeClr val="lt1"/>
              </a:buClr>
              <a:buSzPct val="100000"/>
              <a:buFont typeface="Arial"/>
              <a:buAutoNum type="arabicPeriod"/>
            </a:pPr>
            <a:r>
              <a:rPr lang="en-US" sz="8000">
                <a:latin typeface="Arial"/>
                <a:ea typeface="Arial"/>
                <a:cs typeface="Arial"/>
                <a:sym typeface="Arial"/>
              </a:rPr>
              <a:t>Input number of employees (n)</a:t>
            </a:r>
            <a:endParaRPr sz="8000">
              <a:latin typeface="Arial"/>
              <a:ea typeface="Arial"/>
              <a:cs typeface="Arial"/>
              <a:sym typeface="Arial"/>
            </a:endParaRPr>
          </a:p>
          <a:p>
            <a:pPr indent="-355600" lvl="0" marL="457200" rtl="0" algn="l">
              <a:lnSpc>
                <a:spcPct val="115000"/>
              </a:lnSpc>
              <a:spcBef>
                <a:spcPts val="0"/>
              </a:spcBef>
              <a:spcAft>
                <a:spcPts val="0"/>
              </a:spcAft>
              <a:buClr>
                <a:schemeClr val="lt1"/>
              </a:buClr>
              <a:buSzPct val="100000"/>
              <a:buFont typeface="Arial"/>
              <a:buAutoNum type="arabicPeriod"/>
            </a:pPr>
            <a:r>
              <a:rPr lang="en-US" sz="8000">
                <a:latin typeface="Arial"/>
                <a:ea typeface="Arial"/>
                <a:cs typeface="Arial"/>
                <a:sym typeface="Arial"/>
              </a:rPr>
              <a:t>Repeat steps 4–7 for each employee</a:t>
            </a:r>
            <a:endParaRPr sz="8000">
              <a:latin typeface="Arial"/>
              <a:ea typeface="Arial"/>
              <a:cs typeface="Arial"/>
              <a:sym typeface="Arial"/>
            </a:endParaRPr>
          </a:p>
          <a:p>
            <a:pPr indent="-355600" lvl="0" marL="457200" rtl="0" algn="l">
              <a:lnSpc>
                <a:spcPct val="115000"/>
              </a:lnSpc>
              <a:spcBef>
                <a:spcPts val="0"/>
              </a:spcBef>
              <a:spcAft>
                <a:spcPts val="0"/>
              </a:spcAft>
              <a:buClr>
                <a:schemeClr val="lt1"/>
              </a:buClr>
              <a:buSzPct val="100000"/>
              <a:buFont typeface="Arial"/>
              <a:buAutoNum type="arabicPeriod"/>
            </a:pPr>
            <a:r>
              <a:rPr lang="en-US" sz="8000">
                <a:latin typeface="Arial"/>
                <a:ea typeface="Arial"/>
                <a:cs typeface="Arial"/>
                <a:sym typeface="Arial"/>
              </a:rPr>
              <a:t>Input Employee ID, Name, and Performance Score</a:t>
            </a:r>
            <a:endParaRPr sz="8000">
              <a:latin typeface="Arial"/>
              <a:ea typeface="Arial"/>
              <a:cs typeface="Arial"/>
              <a:sym typeface="Arial"/>
            </a:endParaRPr>
          </a:p>
          <a:p>
            <a:pPr indent="-355600" lvl="0" marL="457200" rtl="0" algn="l">
              <a:lnSpc>
                <a:spcPct val="115000"/>
              </a:lnSpc>
              <a:spcBef>
                <a:spcPts val="0"/>
              </a:spcBef>
              <a:spcAft>
                <a:spcPts val="0"/>
              </a:spcAft>
              <a:buClr>
                <a:schemeClr val="lt1"/>
              </a:buClr>
              <a:buSzPct val="100000"/>
              <a:buFont typeface="Arial"/>
              <a:buAutoNum type="arabicPeriod"/>
            </a:pPr>
            <a:r>
              <a:rPr lang="en-US" sz="8000">
                <a:latin typeface="Arial"/>
                <a:ea typeface="Arial"/>
                <a:cs typeface="Arial"/>
                <a:sym typeface="Arial"/>
              </a:rPr>
              <a:t>Check Performance Score:</a:t>
            </a:r>
            <a:endParaRPr sz="8000">
              <a:latin typeface="Arial"/>
              <a:ea typeface="Arial"/>
              <a:cs typeface="Arial"/>
              <a:sym typeface="Arial"/>
            </a:endParaRPr>
          </a:p>
          <a:p>
            <a:pPr indent="-355600" lvl="1" marL="914400" rtl="0" algn="l">
              <a:lnSpc>
                <a:spcPct val="115000"/>
              </a:lnSpc>
              <a:spcBef>
                <a:spcPts val="0"/>
              </a:spcBef>
              <a:spcAft>
                <a:spcPts val="0"/>
              </a:spcAft>
              <a:buClr>
                <a:schemeClr val="lt1"/>
              </a:buClr>
              <a:buSzPct val="100000"/>
              <a:buFont typeface="Arial"/>
              <a:buChar char="○"/>
            </a:pPr>
            <a:r>
              <a:rPr lang="en-US" sz="8000">
                <a:latin typeface="Arial"/>
                <a:ea typeface="Arial"/>
                <a:cs typeface="Arial"/>
                <a:sym typeface="Arial"/>
              </a:rPr>
              <a:t>If ≥ 90 → Excellent</a:t>
            </a:r>
            <a:endParaRPr sz="8000">
              <a:latin typeface="Arial"/>
              <a:ea typeface="Arial"/>
              <a:cs typeface="Arial"/>
              <a:sym typeface="Arial"/>
            </a:endParaRPr>
          </a:p>
          <a:p>
            <a:pPr indent="-355600" lvl="1" marL="914400" rtl="0" algn="l">
              <a:lnSpc>
                <a:spcPct val="115000"/>
              </a:lnSpc>
              <a:spcBef>
                <a:spcPts val="0"/>
              </a:spcBef>
              <a:spcAft>
                <a:spcPts val="0"/>
              </a:spcAft>
              <a:buClr>
                <a:schemeClr val="lt1"/>
              </a:buClr>
              <a:buSzPct val="100000"/>
              <a:buFont typeface="Arial"/>
              <a:buChar char="○"/>
            </a:pPr>
            <a:r>
              <a:rPr lang="en-US" sz="8000">
                <a:latin typeface="Arial"/>
                <a:ea typeface="Arial"/>
                <a:cs typeface="Arial"/>
                <a:sym typeface="Arial"/>
              </a:rPr>
              <a:t>If ≥ 75 → Very Good</a:t>
            </a:r>
            <a:endParaRPr sz="8000">
              <a:latin typeface="Arial"/>
              <a:ea typeface="Arial"/>
              <a:cs typeface="Arial"/>
              <a:sym typeface="Arial"/>
            </a:endParaRPr>
          </a:p>
          <a:p>
            <a:pPr indent="-355600" lvl="1" marL="914400" rtl="0" algn="l">
              <a:lnSpc>
                <a:spcPct val="115000"/>
              </a:lnSpc>
              <a:spcBef>
                <a:spcPts val="0"/>
              </a:spcBef>
              <a:spcAft>
                <a:spcPts val="0"/>
              </a:spcAft>
              <a:buClr>
                <a:schemeClr val="lt1"/>
              </a:buClr>
              <a:buSzPct val="100000"/>
              <a:buFont typeface="Arial"/>
              <a:buChar char="○"/>
            </a:pPr>
            <a:r>
              <a:rPr lang="en-US" sz="8000">
                <a:latin typeface="Arial"/>
                <a:ea typeface="Arial"/>
                <a:cs typeface="Arial"/>
                <a:sym typeface="Arial"/>
              </a:rPr>
              <a:t>If ≥ 60 → Good</a:t>
            </a:r>
            <a:endParaRPr sz="8000">
              <a:latin typeface="Arial"/>
              <a:ea typeface="Arial"/>
              <a:cs typeface="Arial"/>
              <a:sym typeface="Arial"/>
            </a:endParaRPr>
          </a:p>
          <a:p>
            <a:pPr indent="-355600" lvl="1" marL="914400" rtl="0" algn="l">
              <a:lnSpc>
                <a:spcPct val="115000"/>
              </a:lnSpc>
              <a:spcBef>
                <a:spcPts val="0"/>
              </a:spcBef>
              <a:spcAft>
                <a:spcPts val="0"/>
              </a:spcAft>
              <a:buClr>
                <a:schemeClr val="lt1"/>
              </a:buClr>
              <a:buSzPct val="100000"/>
              <a:buFont typeface="Arial"/>
              <a:buChar char="○"/>
            </a:pPr>
            <a:r>
              <a:rPr lang="en-US" sz="8000">
                <a:latin typeface="Arial"/>
                <a:ea typeface="Arial"/>
                <a:cs typeface="Arial"/>
                <a:sym typeface="Arial"/>
              </a:rPr>
              <a:t>If ≥ 40 → Average</a:t>
            </a:r>
            <a:endParaRPr sz="8000">
              <a:latin typeface="Arial"/>
              <a:ea typeface="Arial"/>
              <a:cs typeface="Arial"/>
              <a:sym typeface="Arial"/>
            </a:endParaRPr>
          </a:p>
          <a:p>
            <a:pPr indent="-355600" lvl="1" marL="914400" rtl="0" algn="l">
              <a:lnSpc>
                <a:spcPct val="115000"/>
              </a:lnSpc>
              <a:spcBef>
                <a:spcPts val="0"/>
              </a:spcBef>
              <a:spcAft>
                <a:spcPts val="0"/>
              </a:spcAft>
              <a:buClr>
                <a:schemeClr val="lt1"/>
              </a:buClr>
              <a:buSzPct val="100000"/>
              <a:buFont typeface="Arial"/>
              <a:buChar char="○"/>
            </a:pPr>
            <a:r>
              <a:rPr lang="en-US" sz="8000">
                <a:latin typeface="Arial"/>
                <a:ea typeface="Arial"/>
                <a:cs typeface="Arial"/>
                <a:sym typeface="Arial"/>
              </a:rPr>
              <a:t>Else → Poor</a:t>
            </a:r>
            <a:endParaRPr sz="8000">
              <a:latin typeface="Arial"/>
              <a:ea typeface="Arial"/>
              <a:cs typeface="Arial"/>
              <a:sym typeface="Arial"/>
            </a:endParaRPr>
          </a:p>
          <a:p>
            <a:pPr indent="-355600" lvl="0" marL="457200" rtl="0" algn="l">
              <a:lnSpc>
                <a:spcPct val="115000"/>
              </a:lnSpc>
              <a:spcBef>
                <a:spcPts val="0"/>
              </a:spcBef>
              <a:spcAft>
                <a:spcPts val="0"/>
              </a:spcAft>
              <a:buClr>
                <a:schemeClr val="lt1"/>
              </a:buClr>
              <a:buSzPct val="100000"/>
              <a:buFont typeface="Arial"/>
              <a:buAutoNum type="arabicPeriod"/>
            </a:pPr>
            <a:r>
              <a:rPr lang="en-US" sz="8000">
                <a:latin typeface="Arial"/>
                <a:ea typeface="Arial"/>
                <a:cs typeface="Arial"/>
                <a:sym typeface="Arial"/>
              </a:rPr>
              <a:t>Store employee details and rating</a:t>
            </a:r>
            <a:endParaRPr sz="8000">
              <a:latin typeface="Arial"/>
              <a:ea typeface="Arial"/>
              <a:cs typeface="Arial"/>
              <a:sym typeface="Arial"/>
            </a:endParaRPr>
          </a:p>
          <a:p>
            <a:pPr indent="-355600" lvl="0" marL="457200" rtl="0" algn="l">
              <a:lnSpc>
                <a:spcPct val="115000"/>
              </a:lnSpc>
              <a:spcBef>
                <a:spcPts val="0"/>
              </a:spcBef>
              <a:spcAft>
                <a:spcPts val="0"/>
              </a:spcAft>
              <a:buClr>
                <a:schemeClr val="lt1"/>
              </a:buClr>
              <a:buSzPct val="100000"/>
              <a:buFont typeface="Arial"/>
              <a:buAutoNum type="arabicPeriod"/>
            </a:pPr>
            <a:r>
              <a:rPr lang="en-US" sz="8000">
                <a:latin typeface="Arial"/>
                <a:ea typeface="Arial"/>
                <a:cs typeface="Arial"/>
                <a:sym typeface="Arial"/>
              </a:rPr>
              <a:t>End loop</a:t>
            </a:r>
            <a:endParaRPr sz="8000">
              <a:latin typeface="Arial"/>
              <a:ea typeface="Arial"/>
              <a:cs typeface="Arial"/>
              <a:sym typeface="Arial"/>
            </a:endParaRPr>
          </a:p>
          <a:p>
            <a:pPr indent="-355600" lvl="0" marL="457200" rtl="0" algn="l">
              <a:lnSpc>
                <a:spcPct val="115000"/>
              </a:lnSpc>
              <a:spcBef>
                <a:spcPts val="0"/>
              </a:spcBef>
              <a:spcAft>
                <a:spcPts val="0"/>
              </a:spcAft>
              <a:buClr>
                <a:schemeClr val="lt1"/>
              </a:buClr>
              <a:buSzPct val="100000"/>
              <a:buFont typeface="Arial"/>
              <a:buAutoNum type="arabicPeriod"/>
            </a:pPr>
            <a:r>
              <a:rPr lang="en-US" sz="8000">
                <a:latin typeface="Arial"/>
                <a:ea typeface="Arial"/>
                <a:cs typeface="Arial"/>
                <a:sym typeface="Arial"/>
              </a:rPr>
              <a:t>Display all employee details with ratings</a:t>
            </a:r>
            <a:endParaRPr sz="8000">
              <a:latin typeface="Arial"/>
              <a:ea typeface="Arial"/>
              <a:cs typeface="Arial"/>
              <a:sym typeface="Arial"/>
            </a:endParaRPr>
          </a:p>
          <a:p>
            <a:pPr indent="-355600" lvl="0" marL="457200" rtl="0" algn="l">
              <a:lnSpc>
                <a:spcPct val="115000"/>
              </a:lnSpc>
              <a:spcBef>
                <a:spcPts val="0"/>
              </a:spcBef>
              <a:spcAft>
                <a:spcPts val="0"/>
              </a:spcAft>
              <a:buClr>
                <a:schemeClr val="lt1"/>
              </a:buClr>
              <a:buSzPct val="100000"/>
              <a:buFont typeface="Arial"/>
              <a:buAutoNum type="arabicPeriod"/>
            </a:pPr>
            <a:r>
              <a:rPr lang="en-US" sz="8000">
                <a:latin typeface="Arial"/>
                <a:ea typeface="Arial"/>
                <a:cs typeface="Arial"/>
                <a:sym typeface="Arial"/>
              </a:rPr>
              <a:t>Stop</a:t>
            </a:r>
            <a:endParaRPr sz="8000">
              <a:latin typeface="Arial"/>
              <a:ea typeface="Arial"/>
              <a:cs typeface="Arial"/>
              <a:sym typeface="Arial"/>
            </a:endParaRPr>
          </a:p>
          <a:p>
            <a:pPr indent="-127000" lvl="0" marL="91440" rtl="0" algn="l">
              <a:lnSpc>
                <a:spcPct val="90000"/>
              </a:lnSpc>
              <a:spcBef>
                <a:spcPts val="1400"/>
              </a:spcBef>
              <a:spcAft>
                <a:spcPts val="0"/>
              </a:spcAft>
              <a:buClr>
                <a:schemeClr val="lt1"/>
              </a:buClr>
              <a:buSzPct val="100000"/>
              <a:buChar char=" "/>
            </a:pPr>
            <a:r>
              <a:t/>
            </a:r>
            <a:endParaRPr sz="8000"/>
          </a:p>
        </p:txBody>
      </p:sp>
      <p:pic>
        <p:nvPicPr>
          <p:cNvPr descr="A blue and red logo&#10;&#10;AI-generated content may be incorrect." id="192" name="Google Shape;192;p8"/>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193" name="Google Shape;193;p8"/>
          <p:cNvSpPr txBox="1"/>
          <p:nvPr/>
        </p:nvSpPr>
        <p:spPr>
          <a:xfrm>
            <a:off x="566450" y="589925"/>
            <a:ext cx="20376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PROGRAMMING PROJECT PRESENTATION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199" name="Google Shape;199;p9"/>
          <p:cNvSpPr/>
          <p:nvPr/>
        </p:nvSpPr>
        <p:spPr>
          <a:xfrm>
            <a:off x="2772744" y="484632"/>
            <a:ext cx="8948150" cy="5880916"/>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00" name="Google Shape;200;p9"/>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IMPLEMENTATION</a:t>
            </a:r>
            <a:endParaRPr/>
          </a:p>
        </p:txBody>
      </p:sp>
      <p:sp>
        <p:nvSpPr>
          <p:cNvPr id="201" name="Google Shape;201;p9"/>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202" name="Google Shape;202;p9"/>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203" name="Google Shape;203;p9"/>
          <p:cNvSpPr txBox="1"/>
          <p:nvPr>
            <p:ph idx="1" type="body"/>
          </p:nvPr>
        </p:nvSpPr>
        <p:spPr>
          <a:xfrm>
            <a:off x="3469327" y="2489202"/>
            <a:ext cx="7923264" cy="3554614"/>
          </a:xfrm>
          <a:prstGeom prst="rect">
            <a:avLst/>
          </a:prstGeom>
          <a:noFill/>
          <a:ln>
            <a:noFill/>
          </a:ln>
        </p:spPr>
        <p:txBody>
          <a:bodyPr anchorCtr="0" anchor="t" bIns="45700" lIns="45700" spcFirstLastPara="1" rIns="45700" wrap="square" tIns="45700">
            <a:normAutofit lnSpcReduction="20000"/>
          </a:bodyPr>
          <a:lstStyle/>
          <a:p>
            <a:pPr indent="0" lvl="0" marL="91440" rtl="0" algn="l">
              <a:lnSpc>
                <a:spcPct val="90000"/>
              </a:lnSpc>
              <a:spcBef>
                <a:spcPts val="0"/>
              </a:spcBef>
              <a:spcAft>
                <a:spcPts val="0"/>
              </a:spcAft>
              <a:buSzPts val="2200"/>
              <a:buNone/>
            </a:pPr>
            <a:r>
              <a:t/>
            </a:r>
            <a:endParaRPr>
              <a:solidFill>
                <a:srgbClr val="FFFFFF"/>
              </a:solidFill>
            </a:endParaRPr>
          </a:p>
          <a:p>
            <a:pPr indent="-342900" lvl="0" marL="457200" rtl="0" algn="l">
              <a:lnSpc>
                <a:spcPct val="115000"/>
              </a:lnSpc>
              <a:spcBef>
                <a:spcPts val="1200"/>
              </a:spcBef>
              <a:spcAft>
                <a:spcPts val="0"/>
              </a:spcAft>
              <a:buClr>
                <a:schemeClr val="lt1"/>
              </a:buClr>
              <a:buSzPts val="1800"/>
              <a:buFont typeface="Arial"/>
              <a:buChar char="●"/>
            </a:pPr>
            <a:r>
              <a:rPr lang="en-US" sz="1800">
                <a:latin typeface="Arial"/>
                <a:ea typeface="Arial"/>
                <a:cs typeface="Arial"/>
                <a:sym typeface="Arial"/>
              </a:rPr>
              <a:t>The system is implemented using </a:t>
            </a:r>
            <a:r>
              <a:rPr b="1" lang="en-US" sz="1800">
                <a:latin typeface="Arial"/>
                <a:ea typeface="Arial"/>
                <a:cs typeface="Arial"/>
                <a:sym typeface="Arial"/>
              </a:rPr>
              <a:t>Java programming language</a:t>
            </a:r>
            <a:r>
              <a:rPr lang="en-US" sz="1800">
                <a:latin typeface="Arial"/>
                <a:ea typeface="Arial"/>
                <a:cs typeface="Arial"/>
                <a:sym typeface="Arial"/>
              </a:rPr>
              <a:t>.</a:t>
            </a:r>
            <a:endParaRPr sz="1800">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Font typeface="Arial"/>
              <a:buChar char="●"/>
            </a:pPr>
            <a:r>
              <a:rPr lang="en-US" sz="1800">
                <a:latin typeface="Arial"/>
                <a:ea typeface="Arial"/>
                <a:cs typeface="Arial"/>
                <a:sym typeface="Arial"/>
              </a:rPr>
              <a:t>An </a:t>
            </a:r>
            <a:r>
              <a:rPr b="1" lang="en-US" sz="1800">
                <a:latin typeface="Arial"/>
                <a:ea typeface="Arial"/>
                <a:cs typeface="Arial"/>
                <a:sym typeface="Arial"/>
              </a:rPr>
              <a:t>Employee class</a:t>
            </a:r>
            <a:r>
              <a:rPr lang="en-US" sz="1800">
                <a:latin typeface="Arial"/>
                <a:ea typeface="Arial"/>
                <a:cs typeface="Arial"/>
                <a:sym typeface="Arial"/>
              </a:rPr>
              <a:t> is created to store employee details (ID, Name, Performance Score).</a:t>
            </a:r>
            <a:endParaRPr sz="1800">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Font typeface="Arial"/>
              <a:buChar char="●"/>
            </a:pPr>
            <a:r>
              <a:rPr lang="en-US" sz="1800">
                <a:latin typeface="Arial"/>
                <a:ea typeface="Arial"/>
                <a:cs typeface="Arial"/>
                <a:sym typeface="Arial"/>
              </a:rPr>
              <a:t>A method is used to </a:t>
            </a:r>
            <a:r>
              <a:rPr b="1" lang="en-US" sz="1800">
                <a:latin typeface="Arial"/>
                <a:ea typeface="Arial"/>
                <a:cs typeface="Arial"/>
                <a:sym typeface="Arial"/>
              </a:rPr>
              <a:t>calculate performance rating</a:t>
            </a:r>
            <a:r>
              <a:rPr lang="en-US" sz="1800">
                <a:latin typeface="Arial"/>
                <a:ea typeface="Arial"/>
                <a:cs typeface="Arial"/>
                <a:sym typeface="Arial"/>
              </a:rPr>
              <a:t> based on score.</a:t>
            </a:r>
            <a:endParaRPr sz="1800">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Font typeface="Arial"/>
              <a:buChar char="●"/>
            </a:pPr>
            <a:r>
              <a:rPr lang="en-US" sz="1800">
                <a:latin typeface="Arial"/>
                <a:ea typeface="Arial"/>
                <a:cs typeface="Arial"/>
                <a:sym typeface="Arial"/>
              </a:rPr>
              <a:t>Multiple employee records are handled using an </a:t>
            </a:r>
            <a:r>
              <a:rPr b="1" lang="en-US" sz="1800">
                <a:latin typeface="Arial"/>
                <a:ea typeface="Arial"/>
                <a:cs typeface="Arial"/>
                <a:sym typeface="Arial"/>
              </a:rPr>
              <a:t>array of objects</a:t>
            </a:r>
            <a:r>
              <a:rPr lang="en-US" sz="1800">
                <a:latin typeface="Arial"/>
                <a:ea typeface="Arial"/>
                <a:cs typeface="Arial"/>
                <a:sym typeface="Arial"/>
              </a:rPr>
              <a:t>.</a:t>
            </a:r>
            <a:endParaRPr sz="1800">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Font typeface="Arial"/>
              <a:buChar char="●"/>
            </a:pPr>
            <a:r>
              <a:rPr lang="en-US" sz="1800">
                <a:latin typeface="Arial"/>
                <a:ea typeface="Arial"/>
                <a:cs typeface="Arial"/>
                <a:sym typeface="Arial"/>
              </a:rPr>
              <a:t>The program takes input from the user using the </a:t>
            </a:r>
            <a:r>
              <a:rPr b="1" lang="en-US" sz="1800">
                <a:latin typeface="Arial"/>
                <a:ea typeface="Arial"/>
                <a:cs typeface="Arial"/>
                <a:sym typeface="Arial"/>
              </a:rPr>
              <a:t>Scanner class</a:t>
            </a:r>
            <a:r>
              <a:rPr lang="en-US" sz="1800">
                <a:latin typeface="Arial"/>
                <a:ea typeface="Arial"/>
                <a:cs typeface="Arial"/>
                <a:sym typeface="Arial"/>
              </a:rPr>
              <a:t>.</a:t>
            </a:r>
            <a:endParaRPr sz="1800">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Font typeface="Arial"/>
              <a:buChar char="●"/>
            </a:pPr>
            <a:r>
              <a:rPr lang="en-US" sz="1800">
                <a:latin typeface="Arial"/>
                <a:ea typeface="Arial"/>
                <a:cs typeface="Arial"/>
                <a:sym typeface="Arial"/>
              </a:rPr>
              <a:t>After processing, the system displays a </a:t>
            </a:r>
            <a:r>
              <a:rPr b="1" lang="en-US" sz="1800">
                <a:latin typeface="Arial"/>
                <a:ea typeface="Arial"/>
                <a:cs typeface="Arial"/>
                <a:sym typeface="Arial"/>
              </a:rPr>
              <a:t>final report with ratings</a:t>
            </a:r>
            <a:r>
              <a:rPr lang="en-US" sz="1800">
                <a:latin typeface="Arial"/>
                <a:ea typeface="Arial"/>
                <a:cs typeface="Arial"/>
                <a:sym typeface="Arial"/>
              </a:rPr>
              <a:t> for each employee.</a:t>
            </a:r>
            <a:endParaRPr sz="1800">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Font typeface="Arial"/>
              <a:buChar char="●"/>
            </a:pPr>
            <a:r>
              <a:rPr lang="en-US" sz="1800">
                <a:latin typeface="Arial"/>
                <a:ea typeface="Arial"/>
                <a:cs typeface="Arial"/>
                <a:sym typeface="Arial"/>
              </a:rPr>
              <a:t>The implementation follows a simple </a:t>
            </a:r>
            <a:r>
              <a:rPr b="1" lang="en-US" sz="1800">
                <a:latin typeface="Arial"/>
                <a:ea typeface="Arial"/>
                <a:cs typeface="Arial"/>
                <a:sym typeface="Arial"/>
              </a:rPr>
              <a:t>console-based approach</a:t>
            </a:r>
            <a:r>
              <a:rPr lang="en-US" sz="1800">
                <a:latin typeface="Arial"/>
                <a:ea typeface="Arial"/>
                <a:cs typeface="Arial"/>
                <a:sym typeface="Arial"/>
              </a:rPr>
              <a:t> for easy execution.</a:t>
            </a:r>
            <a:endParaRPr sz="1800">
              <a:latin typeface="Arial"/>
              <a:ea typeface="Arial"/>
              <a:cs typeface="Arial"/>
              <a:sym typeface="Arial"/>
            </a:endParaRPr>
          </a:p>
          <a:p>
            <a:pPr indent="-114300" lvl="0" marL="91440" rtl="0" algn="l">
              <a:lnSpc>
                <a:spcPct val="90000"/>
              </a:lnSpc>
              <a:spcBef>
                <a:spcPts val="1400"/>
              </a:spcBef>
              <a:spcAft>
                <a:spcPts val="0"/>
              </a:spcAft>
              <a:buClr>
                <a:schemeClr val="lt1"/>
              </a:buClr>
              <a:buSzPts val="1800"/>
              <a:buChar char=" "/>
            </a:pPr>
            <a:r>
              <a:t/>
            </a:r>
            <a:endParaRPr sz="1800"/>
          </a:p>
        </p:txBody>
      </p:sp>
      <p:pic>
        <p:nvPicPr>
          <p:cNvPr descr="A blue and red logo&#10;&#10;AI-generated content may be incorrect." id="204" name="Google Shape;204;p9"/>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205" name="Google Shape;205;p9"/>
          <p:cNvSpPr txBox="1"/>
          <p:nvPr/>
        </p:nvSpPr>
        <p:spPr>
          <a:xfrm>
            <a:off x="475150" y="618475"/>
            <a:ext cx="21288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PROGRAMMING PROJECT PRESENTATION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11" name="Google Shape;211;p10"/>
          <p:cNvSpPr/>
          <p:nvPr/>
        </p:nvSpPr>
        <p:spPr>
          <a:xfrm>
            <a:off x="2772744" y="484632"/>
            <a:ext cx="8948150" cy="5880916"/>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12" name="Google Shape;212;p10"/>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OUTPUT SCREENS</a:t>
            </a:r>
            <a:endParaRPr/>
          </a:p>
        </p:txBody>
      </p:sp>
      <p:sp>
        <p:nvSpPr>
          <p:cNvPr id="213" name="Google Shape;213;p10"/>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214" name="Google Shape;214;p10"/>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215" name="Google Shape;215;p10"/>
          <p:cNvSpPr txBox="1"/>
          <p:nvPr>
            <p:ph idx="1" type="body"/>
          </p:nvPr>
        </p:nvSpPr>
        <p:spPr>
          <a:xfrm>
            <a:off x="2921000" y="2098700"/>
            <a:ext cx="8013300" cy="3873600"/>
          </a:xfrm>
          <a:prstGeom prst="rect">
            <a:avLst/>
          </a:prstGeom>
          <a:noFill/>
          <a:ln>
            <a:noFill/>
          </a:ln>
        </p:spPr>
        <p:txBody>
          <a:bodyPr anchorCtr="0" anchor="t" bIns="45700" lIns="45700" spcFirstLastPara="1" rIns="45700" wrap="square" tIns="45700">
            <a:normAutofit fontScale="25000" lnSpcReduction="20000"/>
          </a:bodyPr>
          <a:lstStyle/>
          <a:p>
            <a:pPr indent="0" lvl="0" marL="0" rtl="0" algn="l">
              <a:lnSpc>
                <a:spcPct val="115000"/>
              </a:lnSpc>
              <a:spcBef>
                <a:spcPts val="1400"/>
              </a:spcBef>
              <a:spcAft>
                <a:spcPts val="0"/>
              </a:spcAft>
              <a:buNone/>
            </a:pPr>
            <a:r>
              <a:rPr b="1" lang="en-US" sz="4400">
                <a:latin typeface="Arial"/>
                <a:ea typeface="Arial"/>
                <a:cs typeface="Arial"/>
                <a:sym typeface="Arial"/>
              </a:rPr>
              <a:t>Screen 1: Input Section</a:t>
            </a:r>
            <a:endParaRPr b="1" sz="4400">
              <a:latin typeface="Arial"/>
              <a:ea typeface="Arial"/>
              <a:cs typeface="Arial"/>
              <a:sym typeface="Arial"/>
            </a:endParaRPr>
          </a:p>
          <a:p>
            <a:pPr indent="-298450" lvl="0" marL="457200" rtl="0" algn="l">
              <a:lnSpc>
                <a:spcPct val="115000"/>
              </a:lnSpc>
              <a:spcBef>
                <a:spcPts val="1200"/>
              </a:spcBef>
              <a:spcAft>
                <a:spcPts val="0"/>
              </a:spcAft>
              <a:buClr>
                <a:schemeClr val="lt1"/>
              </a:buClr>
              <a:buSzPct val="100000"/>
              <a:buFont typeface="Arial"/>
              <a:buChar char="●"/>
            </a:pPr>
            <a:r>
              <a:rPr lang="en-US" sz="4400">
                <a:latin typeface="Arial"/>
                <a:ea typeface="Arial"/>
                <a:cs typeface="Arial"/>
                <a:sym typeface="Arial"/>
              </a:rPr>
              <a:t>Enter number of employees</a:t>
            </a:r>
            <a:endParaRPr sz="4400">
              <a:latin typeface="Arial"/>
              <a:ea typeface="Arial"/>
              <a:cs typeface="Arial"/>
              <a:sym typeface="Arial"/>
            </a:endParaRPr>
          </a:p>
          <a:p>
            <a:pPr indent="-298450" lvl="0" marL="457200" rtl="0" algn="l">
              <a:lnSpc>
                <a:spcPct val="115000"/>
              </a:lnSpc>
              <a:spcBef>
                <a:spcPts val="0"/>
              </a:spcBef>
              <a:spcAft>
                <a:spcPts val="0"/>
              </a:spcAft>
              <a:buClr>
                <a:schemeClr val="lt1"/>
              </a:buClr>
              <a:buSzPct val="100000"/>
              <a:buFont typeface="Arial"/>
              <a:buChar char="●"/>
            </a:pPr>
            <a:r>
              <a:rPr lang="en-US" sz="4400">
                <a:latin typeface="Arial"/>
                <a:ea typeface="Arial"/>
                <a:cs typeface="Arial"/>
                <a:sym typeface="Arial"/>
              </a:rPr>
              <a:t>Enter Employee ID, Name, and Performance Score</a:t>
            </a:r>
            <a:endParaRPr sz="4400">
              <a:latin typeface="Arial"/>
              <a:ea typeface="Arial"/>
              <a:cs typeface="Arial"/>
              <a:sym typeface="Arial"/>
            </a:endParaRPr>
          </a:p>
          <a:p>
            <a:pPr indent="0" lvl="0" marL="0" rtl="0" algn="l">
              <a:lnSpc>
                <a:spcPct val="115000"/>
              </a:lnSpc>
              <a:spcBef>
                <a:spcPts val="1400"/>
              </a:spcBef>
              <a:spcAft>
                <a:spcPts val="0"/>
              </a:spcAft>
              <a:buNone/>
            </a:pPr>
            <a:r>
              <a:rPr b="1" lang="en-US" sz="4400">
                <a:latin typeface="Arial"/>
                <a:ea typeface="Arial"/>
                <a:cs typeface="Arial"/>
                <a:sym typeface="Arial"/>
              </a:rPr>
              <a:t>Screen 2: Processing</a:t>
            </a:r>
            <a:endParaRPr b="1" sz="4400">
              <a:latin typeface="Arial"/>
              <a:ea typeface="Arial"/>
              <a:cs typeface="Arial"/>
              <a:sym typeface="Arial"/>
            </a:endParaRPr>
          </a:p>
          <a:p>
            <a:pPr indent="-298450" lvl="0" marL="457200" rtl="0" algn="l">
              <a:lnSpc>
                <a:spcPct val="115000"/>
              </a:lnSpc>
              <a:spcBef>
                <a:spcPts val="1200"/>
              </a:spcBef>
              <a:spcAft>
                <a:spcPts val="0"/>
              </a:spcAft>
              <a:buClr>
                <a:schemeClr val="lt1"/>
              </a:buClr>
              <a:buSzPct val="100000"/>
              <a:buFont typeface="Arial"/>
              <a:buChar char="●"/>
            </a:pPr>
            <a:r>
              <a:rPr lang="en-US" sz="4400">
                <a:latin typeface="Arial"/>
                <a:ea typeface="Arial"/>
                <a:cs typeface="Arial"/>
                <a:sym typeface="Arial"/>
              </a:rPr>
              <a:t>System calculates performance rating based on score</a:t>
            </a:r>
            <a:endParaRPr sz="4400">
              <a:latin typeface="Arial"/>
              <a:ea typeface="Arial"/>
              <a:cs typeface="Arial"/>
              <a:sym typeface="Arial"/>
            </a:endParaRPr>
          </a:p>
          <a:p>
            <a:pPr indent="-298450" lvl="0" marL="457200" rtl="0" algn="l">
              <a:lnSpc>
                <a:spcPct val="115000"/>
              </a:lnSpc>
              <a:spcBef>
                <a:spcPts val="0"/>
              </a:spcBef>
              <a:spcAft>
                <a:spcPts val="0"/>
              </a:spcAft>
              <a:buClr>
                <a:schemeClr val="lt1"/>
              </a:buClr>
              <a:buSzPct val="100000"/>
              <a:buFont typeface="Arial"/>
              <a:buChar char="●"/>
            </a:pPr>
            <a:r>
              <a:rPr lang="en-US" sz="4400">
                <a:latin typeface="Arial"/>
                <a:ea typeface="Arial"/>
                <a:cs typeface="Arial"/>
                <a:sym typeface="Arial"/>
              </a:rPr>
              <a:t>Rating is assigned automatically </a:t>
            </a:r>
            <a:endParaRPr sz="4400">
              <a:latin typeface="Arial"/>
              <a:ea typeface="Arial"/>
              <a:cs typeface="Arial"/>
              <a:sym typeface="Arial"/>
            </a:endParaRPr>
          </a:p>
          <a:p>
            <a:pPr indent="0" lvl="0" marL="0" rtl="0" algn="l">
              <a:lnSpc>
                <a:spcPct val="115000"/>
              </a:lnSpc>
              <a:spcBef>
                <a:spcPts val="1400"/>
              </a:spcBef>
              <a:spcAft>
                <a:spcPts val="0"/>
              </a:spcAft>
              <a:buNone/>
            </a:pPr>
            <a:r>
              <a:rPr b="1" lang="en-US" sz="4400">
                <a:latin typeface="Arial"/>
                <a:ea typeface="Arial"/>
                <a:cs typeface="Arial"/>
                <a:sym typeface="Arial"/>
              </a:rPr>
              <a:t>Screen 3: Output / Result</a:t>
            </a:r>
            <a:endParaRPr b="1" sz="4400">
              <a:latin typeface="Arial"/>
              <a:ea typeface="Arial"/>
              <a:cs typeface="Arial"/>
              <a:sym typeface="Arial"/>
            </a:endParaRPr>
          </a:p>
          <a:p>
            <a:pPr indent="-298450" lvl="0" marL="457200" rtl="0" algn="l">
              <a:lnSpc>
                <a:spcPct val="115000"/>
              </a:lnSpc>
              <a:spcBef>
                <a:spcPts val="1200"/>
              </a:spcBef>
              <a:spcAft>
                <a:spcPts val="0"/>
              </a:spcAft>
              <a:buClr>
                <a:schemeClr val="lt1"/>
              </a:buClr>
              <a:buSzPct val="100000"/>
              <a:buFont typeface="Arial"/>
              <a:buChar char="●"/>
            </a:pPr>
            <a:r>
              <a:rPr lang="en-US" sz="4400">
                <a:latin typeface="Arial"/>
                <a:ea typeface="Arial"/>
                <a:cs typeface="Arial"/>
                <a:sym typeface="Arial"/>
              </a:rPr>
              <a:t>Displays Employee ID</a:t>
            </a:r>
            <a:endParaRPr sz="4400">
              <a:latin typeface="Arial"/>
              <a:ea typeface="Arial"/>
              <a:cs typeface="Arial"/>
              <a:sym typeface="Arial"/>
            </a:endParaRPr>
          </a:p>
          <a:p>
            <a:pPr indent="-298450" lvl="0" marL="457200" rtl="0" algn="l">
              <a:lnSpc>
                <a:spcPct val="115000"/>
              </a:lnSpc>
              <a:spcBef>
                <a:spcPts val="0"/>
              </a:spcBef>
              <a:spcAft>
                <a:spcPts val="0"/>
              </a:spcAft>
              <a:buClr>
                <a:schemeClr val="lt1"/>
              </a:buClr>
              <a:buSzPct val="100000"/>
              <a:buFont typeface="Arial"/>
              <a:buChar char="●"/>
            </a:pPr>
            <a:r>
              <a:rPr lang="en-US" sz="4400">
                <a:latin typeface="Arial"/>
                <a:ea typeface="Arial"/>
                <a:cs typeface="Arial"/>
                <a:sym typeface="Arial"/>
              </a:rPr>
              <a:t>Displays Employee Name</a:t>
            </a:r>
            <a:endParaRPr sz="4400">
              <a:latin typeface="Arial"/>
              <a:ea typeface="Arial"/>
              <a:cs typeface="Arial"/>
              <a:sym typeface="Arial"/>
            </a:endParaRPr>
          </a:p>
          <a:p>
            <a:pPr indent="-298450" lvl="0" marL="457200" rtl="0" algn="l">
              <a:lnSpc>
                <a:spcPct val="115000"/>
              </a:lnSpc>
              <a:spcBef>
                <a:spcPts val="0"/>
              </a:spcBef>
              <a:spcAft>
                <a:spcPts val="0"/>
              </a:spcAft>
              <a:buClr>
                <a:schemeClr val="lt1"/>
              </a:buClr>
              <a:buSzPct val="100000"/>
              <a:buFont typeface="Arial"/>
              <a:buChar char="●"/>
            </a:pPr>
            <a:r>
              <a:rPr lang="en-US" sz="4400">
                <a:latin typeface="Arial"/>
                <a:ea typeface="Arial"/>
                <a:cs typeface="Arial"/>
                <a:sym typeface="Arial"/>
              </a:rPr>
              <a:t>Displays Performance Score</a:t>
            </a:r>
            <a:endParaRPr sz="4400">
              <a:latin typeface="Arial"/>
              <a:ea typeface="Arial"/>
              <a:cs typeface="Arial"/>
              <a:sym typeface="Arial"/>
            </a:endParaRPr>
          </a:p>
          <a:p>
            <a:pPr indent="-298450" lvl="0" marL="457200" rtl="0" algn="l">
              <a:lnSpc>
                <a:spcPct val="115000"/>
              </a:lnSpc>
              <a:spcBef>
                <a:spcPts val="0"/>
              </a:spcBef>
              <a:spcAft>
                <a:spcPts val="0"/>
              </a:spcAft>
              <a:buClr>
                <a:schemeClr val="lt1"/>
              </a:buClr>
              <a:buSzPct val="100000"/>
              <a:buFont typeface="Arial"/>
              <a:buChar char="●"/>
            </a:pPr>
            <a:r>
              <a:rPr lang="en-US" sz="4400">
                <a:latin typeface="Arial"/>
                <a:ea typeface="Arial"/>
                <a:cs typeface="Arial"/>
                <a:sym typeface="Arial"/>
              </a:rPr>
              <a:t>Displays Final Rating (Excellent / Very Good / Good / Average / Poor)</a:t>
            </a:r>
            <a:endParaRPr sz="4400">
              <a:latin typeface="Arial"/>
              <a:ea typeface="Arial"/>
              <a:cs typeface="Arial"/>
              <a:sym typeface="Arial"/>
            </a:endParaRPr>
          </a:p>
          <a:p>
            <a:pPr indent="0" lvl="0" marL="0" rtl="0" algn="l">
              <a:lnSpc>
                <a:spcPct val="115000"/>
              </a:lnSpc>
              <a:spcBef>
                <a:spcPts val="1200"/>
              </a:spcBef>
              <a:spcAft>
                <a:spcPts val="0"/>
              </a:spcAft>
              <a:buNone/>
            </a:pPr>
            <a:r>
              <a:rPr lang="en-US" sz="4400">
                <a:latin typeface="Arial"/>
                <a:ea typeface="Arial"/>
                <a:cs typeface="Arial"/>
                <a:sym typeface="Arial"/>
              </a:rPr>
              <a:t>----- Employee Details -----</a:t>
            </a:r>
            <a:endParaRPr sz="4400">
              <a:latin typeface="Arial"/>
              <a:ea typeface="Arial"/>
              <a:cs typeface="Arial"/>
              <a:sym typeface="Arial"/>
            </a:endParaRPr>
          </a:p>
          <a:p>
            <a:pPr indent="0" lvl="0" marL="0" rtl="0" algn="l">
              <a:lnSpc>
                <a:spcPct val="115000"/>
              </a:lnSpc>
              <a:spcBef>
                <a:spcPts val="1200"/>
              </a:spcBef>
              <a:spcAft>
                <a:spcPts val="0"/>
              </a:spcAft>
              <a:buNone/>
            </a:pPr>
            <a:r>
              <a:rPr lang="en-US" sz="4400">
                <a:latin typeface="Arial"/>
                <a:ea typeface="Arial"/>
                <a:cs typeface="Arial"/>
                <a:sym typeface="Arial"/>
              </a:rPr>
              <a:t>ID: 101</a:t>
            </a:r>
            <a:endParaRPr sz="4400">
              <a:latin typeface="Arial"/>
              <a:ea typeface="Arial"/>
              <a:cs typeface="Arial"/>
              <a:sym typeface="Arial"/>
            </a:endParaRPr>
          </a:p>
          <a:p>
            <a:pPr indent="0" lvl="0" marL="0" rtl="0" algn="l">
              <a:lnSpc>
                <a:spcPct val="115000"/>
              </a:lnSpc>
              <a:spcBef>
                <a:spcPts val="1200"/>
              </a:spcBef>
              <a:spcAft>
                <a:spcPts val="0"/>
              </a:spcAft>
              <a:buNone/>
            </a:pPr>
            <a:r>
              <a:rPr lang="en-US" sz="4400">
                <a:latin typeface="Arial"/>
                <a:ea typeface="Arial"/>
                <a:cs typeface="Arial"/>
                <a:sym typeface="Arial"/>
              </a:rPr>
              <a:t>Name: Ravi</a:t>
            </a:r>
            <a:endParaRPr sz="4400">
              <a:latin typeface="Arial"/>
              <a:ea typeface="Arial"/>
              <a:cs typeface="Arial"/>
              <a:sym typeface="Arial"/>
            </a:endParaRPr>
          </a:p>
          <a:p>
            <a:pPr indent="0" lvl="0" marL="0" rtl="0" algn="l">
              <a:lnSpc>
                <a:spcPct val="115000"/>
              </a:lnSpc>
              <a:spcBef>
                <a:spcPts val="1200"/>
              </a:spcBef>
              <a:spcAft>
                <a:spcPts val="0"/>
              </a:spcAft>
              <a:buNone/>
            </a:pPr>
            <a:r>
              <a:rPr lang="en-US" sz="4400">
                <a:latin typeface="Arial"/>
                <a:ea typeface="Arial"/>
                <a:cs typeface="Arial"/>
                <a:sym typeface="Arial"/>
              </a:rPr>
              <a:t>Score: 85</a:t>
            </a:r>
            <a:endParaRPr sz="4400">
              <a:latin typeface="Arial"/>
              <a:ea typeface="Arial"/>
              <a:cs typeface="Arial"/>
              <a:sym typeface="Arial"/>
            </a:endParaRPr>
          </a:p>
          <a:p>
            <a:pPr indent="0" lvl="0" marL="0" rtl="0" algn="l">
              <a:lnSpc>
                <a:spcPct val="115000"/>
              </a:lnSpc>
              <a:spcBef>
                <a:spcPts val="1200"/>
              </a:spcBef>
              <a:spcAft>
                <a:spcPts val="0"/>
              </a:spcAft>
              <a:buNone/>
            </a:pPr>
            <a:r>
              <a:rPr lang="en-US" sz="4400">
                <a:latin typeface="Arial"/>
                <a:ea typeface="Arial"/>
                <a:cs typeface="Arial"/>
                <a:sym typeface="Arial"/>
              </a:rPr>
              <a:t>Rating: Very Good</a:t>
            </a:r>
            <a:endParaRPr sz="4400">
              <a:latin typeface="Arial"/>
              <a:ea typeface="Arial"/>
              <a:cs typeface="Arial"/>
              <a:sym typeface="Arial"/>
            </a:endParaRPr>
          </a:p>
          <a:p>
            <a:pPr indent="0" lvl="0" marL="0" rtl="0" algn="l">
              <a:lnSpc>
                <a:spcPct val="115000"/>
              </a:lnSpc>
              <a:spcBef>
                <a:spcPts val="1200"/>
              </a:spcBef>
              <a:spcAft>
                <a:spcPts val="0"/>
              </a:spcAft>
              <a:buNone/>
            </a:pPr>
            <a:r>
              <a:t/>
            </a:r>
            <a:endParaRPr sz="1100">
              <a:solidFill>
                <a:schemeClr val="dk1"/>
              </a:solidFill>
              <a:latin typeface="Arial"/>
              <a:ea typeface="Arial"/>
              <a:cs typeface="Arial"/>
              <a:sym typeface="Arial"/>
            </a:endParaRPr>
          </a:p>
          <a:p>
            <a:pPr indent="0" lvl="0" marL="0" rtl="0" algn="l">
              <a:lnSpc>
                <a:spcPct val="115000"/>
              </a:lnSpc>
              <a:spcBef>
                <a:spcPts val="1800"/>
              </a:spcBef>
              <a:spcAft>
                <a:spcPts val="400"/>
              </a:spcAft>
              <a:buNone/>
            </a:pPr>
            <a:r>
              <a:t/>
            </a:r>
            <a:endParaRPr>
              <a:solidFill>
                <a:srgbClr val="FFFFFF"/>
              </a:solidFill>
            </a:endParaRPr>
          </a:p>
        </p:txBody>
      </p:sp>
      <p:pic>
        <p:nvPicPr>
          <p:cNvPr descr="A blue and red logo&#10;&#10;AI-generated content may be incorrect." id="216" name="Google Shape;216;p10"/>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217" name="Google Shape;217;p10"/>
          <p:cNvSpPr txBox="1"/>
          <p:nvPr/>
        </p:nvSpPr>
        <p:spPr>
          <a:xfrm>
            <a:off x="566450" y="589925"/>
            <a:ext cx="20376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PROGRAMMING PROJECT PRESENTATION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23" name="Google Shape;223;p11"/>
          <p:cNvSpPr/>
          <p:nvPr/>
        </p:nvSpPr>
        <p:spPr>
          <a:xfrm>
            <a:off x="2772744" y="484632"/>
            <a:ext cx="8948150" cy="5880916"/>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24" name="Google Shape;224;p11"/>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RESULTS &amp; DISCUSSION</a:t>
            </a:r>
            <a:endParaRPr/>
          </a:p>
        </p:txBody>
      </p:sp>
      <p:sp>
        <p:nvSpPr>
          <p:cNvPr id="225" name="Google Shape;225;p11"/>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226" name="Google Shape;226;p11"/>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227" name="Google Shape;227;p11"/>
          <p:cNvSpPr txBox="1"/>
          <p:nvPr>
            <p:ph idx="1" type="body"/>
          </p:nvPr>
        </p:nvSpPr>
        <p:spPr>
          <a:xfrm>
            <a:off x="3076427" y="2096302"/>
            <a:ext cx="7923300" cy="3554700"/>
          </a:xfrm>
          <a:prstGeom prst="rect">
            <a:avLst/>
          </a:prstGeom>
          <a:noFill/>
          <a:ln>
            <a:noFill/>
          </a:ln>
        </p:spPr>
        <p:txBody>
          <a:bodyPr anchorCtr="0" anchor="t" bIns="45700" lIns="45700" spcFirstLastPara="1" rIns="45700" wrap="square" tIns="45700">
            <a:normAutofit fontScale="77500" lnSpcReduction="20000"/>
          </a:bodyPr>
          <a:lstStyle/>
          <a:p>
            <a:pPr indent="0" lvl="0" marL="0" rtl="0" algn="l">
              <a:lnSpc>
                <a:spcPct val="115000"/>
              </a:lnSpc>
              <a:spcBef>
                <a:spcPts val="1200"/>
              </a:spcBef>
              <a:spcAft>
                <a:spcPts val="0"/>
              </a:spcAft>
              <a:buClr>
                <a:schemeClr val="dk1"/>
              </a:buClr>
              <a:buSzPct val="50000"/>
              <a:buFont typeface="Arial"/>
              <a:buNone/>
            </a:pPr>
            <a:r>
              <a:rPr lang="en-US">
                <a:solidFill>
                  <a:srgbClr val="FFFFFF"/>
                </a:solidFill>
              </a:rPr>
              <a:t>The Employee Performance Evaluation and Rating System successfully evaluates employee performance based on their input scores and assigns appropriate ratings such as Excellent, Very Good, Good, Average, and Poor. The system processes multiple employee records and displays the final results in a clear and structured format.</a:t>
            </a:r>
            <a:endParaRPr>
              <a:solidFill>
                <a:srgbClr val="FFFFFF"/>
              </a:solidFill>
            </a:endParaRPr>
          </a:p>
          <a:p>
            <a:pPr indent="0" lvl="0" marL="0" rtl="0" algn="l">
              <a:lnSpc>
                <a:spcPct val="115000"/>
              </a:lnSpc>
              <a:spcBef>
                <a:spcPts val="1200"/>
              </a:spcBef>
              <a:spcAft>
                <a:spcPts val="0"/>
              </a:spcAft>
              <a:buClr>
                <a:schemeClr val="dk1"/>
              </a:buClr>
              <a:buSzPct val="50000"/>
              <a:buFont typeface="Arial"/>
              <a:buNone/>
            </a:pPr>
            <a:r>
              <a:rPr lang="en-US">
                <a:solidFill>
                  <a:srgbClr val="FFFFFF"/>
                </a:solidFill>
              </a:rPr>
              <a:t>The results show that the system works accurately in converting numerical performance scores into meaningful ratings. It reduces manual effort and ensures fair and consistent evaluation of employees.</a:t>
            </a:r>
            <a:endParaRPr>
              <a:solidFill>
                <a:srgbClr val="FFFFFF"/>
              </a:solidFill>
            </a:endParaRPr>
          </a:p>
          <a:p>
            <a:pPr indent="0" lvl="0" marL="0" rtl="0" algn="l">
              <a:lnSpc>
                <a:spcPct val="115000"/>
              </a:lnSpc>
              <a:spcBef>
                <a:spcPts val="1200"/>
              </a:spcBef>
              <a:spcAft>
                <a:spcPts val="0"/>
              </a:spcAft>
              <a:buClr>
                <a:schemeClr val="dk1"/>
              </a:buClr>
              <a:buSzPct val="50000"/>
              <a:buFont typeface="Arial"/>
              <a:buNone/>
            </a:pPr>
            <a:r>
              <a:rPr lang="en-US">
                <a:solidFill>
                  <a:srgbClr val="FFFFFF"/>
                </a:solidFill>
              </a:rPr>
              <a:t>The discussion highlights that this system improves efficiency, saves time, and minimizes human errors compared to traditional manual evaluation methods. It also helps management in easily identifying employee performance levels for decision-making processes such as promotions and training.</a:t>
            </a:r>
            <a:endParaRPr>
              <a:solidFill>
                <a:srgbClr val="FFFFFF"/>
              </a:solidFill>
            </a:endParaRPr>
          </a:p>
          <a:p>
            <a:pPr indent="0" lvl="0" marL="0" rtl="0" algn="l">
              <a:lnSpc>
                <a:spcPct val="90000"/>
              </a:lnSpc>
              <a:spcBef>
                <a:spcPts val="1400"/>
              </a:spcBef>
              <a:spcAft>
                <a:spcPts val="0"/>
              </a:spcAft>
              <a:buNone/>
            </a:pPr>
            <a:r>
              <a:t/>
            </a:r>
            <a:endParaRPr>
              <a:solidFill>
                <a:srgbClr val="FFFFFF"/>
              </a:solidFill>
            </a:endParaRPr>
          </a:p>
        </p:txBody>
      </p:sp>
      <p:pic>
        <p:nvPicPr>
          <p:cNvPr descr="A blue and red logo&#10;&#10;AI-generated content may be incorrect." id="228" name="Google Shape;228;p11"/>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229" name="Google Shape;229;p11"/>
          <p:cNvSpPr txBox="1"/>
          <p:nvPr/>
        </p:nvSpPr>
        <p:spPr>
          <a:xfrm>
            <a:off x="566450" y="589925"/>
            <a:ext cx="20376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PROGRAMMING PROJECT PRESENTATION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35" name="Google Shape;235;p12"/>
          <p:cNvSpPr/>
          <p:nvPr/>
        </p:nvSpPr>
        <p:spPr>
          <a:xfrm>
            <a:off x="2772744" y="484632"/>
            <a:ext cx="8948150" cy="5880916"/>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36" name="Google Shape;236;p12"/>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CONCLUSION &amp; FUTURE ENHANCEMENT</a:t>
            </a:r>
            <a:endParaRPr/>
          </a:p>
        </p:txBody>
      </p:sp>
      <p:sp>
        <p:nvSpPr>
          <p:cNvPr id="237" name="Google Shape;237;p12"/>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238" name="Google Shape;238;p12"/>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239" name="Google Shape;239;p12"/>
          <p:cNvSpPr txBox="1"/>
          <p:nvPr>
            <p:ph idx="1" type="body"/>
          </p:nvPr>
        </p:nvSpPr>
        <p:spPr>
          <a:xfrm>
            <a:off x="3052627" y="2288027"/>
            <a:ext cx="7923300" cy="3554700"/>
          </a:xfrm>
          <a:prstGeom prst="rect">
            <a:avLst/>
          </a:prstGeom>
          <a:noFill/>
          <a:ln>
            <a:noFill/>
          </a:ln>
        </p:spPr>
        <p:txBody>
          <a:bodyPr anchorCtr="0" anchor="t" bIns="45700" lIns="45700" spcFirstLastPara="1" rIns="45700" wrap="square" tIns="45700">
            <a:noAutofit/>
          </a:bodyPr>
          <a:lstStyle/>
          <a:p>
            <a:pPr indent="0" lvl="0" marL="91440" rtl="0" algn="l">
              <a:lnSpc>
                <a:spcPct val="90000"/>
              </a:lnSpc>
              <a:spcBef>
                <a:spcPts val="0"/>
              </a:spcBef>
              <a:spcAft>
                <a:spcPts val="0"/>
              </a:spcAft>
              <a:buSzPts val="1500"/>
              <a:buNone/>
            </a:pPr>
            <a:r>
              <a:rPr lang="en-US" sz="1800">
                <a:solidFill>
                  <a:srgbClr val="FFFFFF"/>
                </a:solidFill>
              </a:rPr>
              <a:t>CONCLUSION:</a:t>
            </a:r>
            <a:endParaRPr sz="1800">
              <a:solidFill>
                <a:srgbClr val="FFFFFF"/>
              </a:solidFill>
            </a:endParaRPr>
          </a:p>
          <a:p>
            <a:pPr indent="0" lvl="0" marL="91440" rtl="0" algn="l">
              <a:lnSpc>
                <a:spcPct val="90000"/>
              </a:lnSpc>
              <a:spcBef>
                <a:spcPts val="1400"/>
              </a:spcBef>
              <a:spcAft>
                <a:spcPts val="0"/>
              </a:spcAft>
              <a:buNone/>
            </a:pPr>
            <a:r>
              <a:rPr lang="en-US" sz="1800">
                <a:solidFill>
                  <a:srgbClr val="FFFFFF"/>
                </a:solidFill>
              </a:rPr>
              <a:t>The Employee Performance Evaluation and Rating System successfully automates the process of evaluating employee performance based on predefined criteria. It provides accurate and consistent ratings, reduces manual effort, and improves the efficiency of performance management. The system is simple, reliable, and easy to use for basic employee evaluation tasks.</a:t>
            </a:r>
            <a:r>
              <a:rPr lang="en-US" sz="1800">
                <a:solidFill>
                  <a:srgbClr val="FFFFFF"/>
                </a:solidFill>
              </a:rPr>
              <a:t>Future Enhancements:</a:t>
            </a:r>
            <a:endParaRPr sz="1800"/>
          </a:p>
          <a:p>
            <a:pPr indent="-114300" lvl="0" marL="91440" rtl="0" algn="l">
              <a:lnSpc>
                <a:spcPct val="115000"/>
              </a:lnSpc>
              <a:spcBef>
                <a:spcPts val="1200"/>
              </a:spcBef>
              <a:spcAft>
                <a:spcPts val="0"/>
              </a:spcAft>
              <a:buClr>
                <a:schemeClr val="dk1"/>
              </a:buClr>
              <a:buSzPts val="1800"/>
              <a:buFont typeface="Arial"/>
              <a:buChar char=" "/>
            </a:pPr>
            <a:r>
              <a:rPr lang="en-US" sz="1800">
                <a:solidFill>
                  <a:srgbClr val="FFFFFF"/>
                </a:solidFill>
              </a:rPr>
              <a:t>Can be upgraded with a graphical user interface (GUI) using Java Swing or JavaFX</a:t>
            </a:r>
            <a:endParaRPr sz="1800">
              <a:solidFill>
                <a:srgbClr val="FFFFFF"/>
              </a:solidFill>
            </a:endParaRPr>
          </a:p>
          <a:p>
            <a:pPr indent="-114300" lvl="0" marL="91440" rtl="0" algn="l">
              <a:lnSpc>
                <a:spcPct val="115000"/>
              </a:lnSpc>
              <a:spcBef>
                <a:spcPts val="0"/>
              </a:spcBef>
              <a:spcAft>
                <a:spcPts val="0"/>
              </a:spcAft>
              <a:buClr>
                <a:schemeClr val="dk1"/>
              </a:buClr>
              <a:buSzPts val="1800"/>
              <a:buFont typeface="Arial"/>
              <a:buChar char=" "/>
            </a:pPr>
            <a:r>
              <a:rPr lang="en-US" sz="1800">
                <a:solidFill>
                  <a:srgbClr val="FFFFFF"/>
                </a:solidFill>
              </a:rPr>
              <a:t>Integration with a database (MySQL) for permanent data storage</a:t>
            </a:r>
            <a:endParaRPr sz="1800">
              <a:solidFill>
                <a:srgbClr val="FFFFFF"/>
              </a:solidFill>
            </a:endParaRPr>
          </a:p>
          <a:p>
            <a:pPr indent="-114300" lvl="0" marL="91440" rtl="0" algn="l">
              <a:lnSpc>
                <a:spcPct val="115000"/>
              </a:lnSpc>
              <a:spcBef>
                <a:spcPts val="0"/>
              </a:spcBef>
              <a:spcAft>
                <a:spcPts val="0"/>
              </a:spcAft>
              <a:buClr>
                <a:schemeClr val="dk1"/>
              </a:buClr>
              <a:buSzPts val="1800"/>
              <a:buFont typeface="Arial"/>
              <a:buChar char=" "/>
            </a:pPr>
            <a:r>
              <a:rPr lang="en-US" sz="1800">
                <a:solidFill>
                  <a:srgbClr val="FFFFFF"/>
                </a:solidFill>
              </a:rPr>
              <a:t>Web-based application using HTML, CSS, and Java (Servlets/JSP)</a:t>
            </a:r>
            <a:endParaRPr sz="1800">
              <a:solidFill>
                <a:srgbClr val="FFFFFF"/>
              </a:solidFill>
            </a:endParaRPr>
          </a:p>
          <a:p>
            <a:pPr indent="-114300" lvl="0" marL="91440" rtl="0" algn="l">
              <a:lnSpc>
                <a:spcPct val="115000"/>
              </a:lnSpc>
              <a:spcBef>
                <a:spcPts val="0"/>
              </a:spcBef>
              <a:spcAft>
                <a:spcPts val="0"/>
              </a:spcAft>
              <a:buClr>
                <a:schemeClr val="dk1"/>
              </a:buClr>
              <a:buSzPts val="1800"/>
              <a:buFont typeface="Arial"/>
              <a:buChar char=" "/>
            </a:pPr>
            <a:r>
              <a:rPr lang="en-US" sz="1800">
                <a:solidFill>
                  <a:srgbClr val="FFFFFF"/>
                </a:solidFill>
              </a:rPr>
              <a:t>Advanced analytics and graphical performance reports</a:t>
            </a:r>
            <a:endParaRPr sz="1800">
              <a:solidFill>
                <a:srgbClr val="FFFFFF"/>
              </a:solidFill>
            </a:endParaRPr>
          </a:p>
          <a:p>
            <a:pPr indent="-114300" lvl="0" marL="91440" rtl="0" algn="l">
              <a:lnSpc>
                <a:spcPct val="115000"/>
              </a:lnSpc>
              <a:spcBef>
                <a:spcPts val="0"/>
              </a:spcBef>
              <a:spcAft>
                <a:spcPts val="0"/>
              </a:spcAft>
              <a:buClr>
                <a:schemeClr val="dk1"/>
              </a:buClr>
              <a:buSzPts val="1800"/>
              <a:buFont typeface="Arial"/>
              <a:buChar char=" "/>
            </a:pPr>
            <a:r>
              <a:rPr lang="en-US" sz="1800">
                <a:solidFill>
                  <a:srgbClr val="FFFFFF"/>
                </a:solidFill>
              </a:rPr>
              <a:t>Login system for admin and employees for better security</a:t>
            </a:r>
            <a:endParaRPr sz="1800">
              <a:solidFill>
                <a:srgbClr val="FFFFFF"/>
              </a:solidFill>
            </a:endParaRPr>
          </a:p>
          <a:p>
            <a:pPr indent="-114300" lvl="0" marL="91440" rtl="0" algn="l">
              <a:lnSpc>
                <a:spcPct val="115000"/>
              </a:lnSpc>
              <a:spcBef>
                <a:spcPts val="0"/>
              </a:spcBef>
              <a:spcAft>
                <a:spcPts val="0"/>
              </a:spcAft>
              <a:buClr>
                <a:schemeClr val="dk1"/>
              </a:buClr>
              <a:buSzPts val="1800"/>
              <a:buFont typeface="Arial"/>
              <a:buChar char=" "/>
            </a:pPr>
            <a:r>
              <a:rPr lang="en-US" sz="1800">
                <a:solidFill>
                  <a:srgbClr val="FFFFFF"/>
                </a:solidFill>
              </a:rPr>
              <a:t>Export reports in PDF or Excel format </a:t>
            </a:r>
            <a:endParaRPr sz="1800">
              <a:solidFill>
                <a:srgbClr val="FFFFFF"/>
              </a:solidFill>
            </a:endParaRPr>
          </a:p>
          <a:p>
            <a:pPr indent="-114300" lvl="0" marL="91440" rtl="0" algn="l">
              <a:lnSpc>
                <a:spcPct val="90000"/>
              </a:lnSpc>
              <a:spcBef>
                <a:spcPts val="1400"/>
              </a:spcBef>
              <a:spcAft>
                <a:spcPts val="0"/>
              </a:spcAft>
              <a:buClr>
                <a:srgbClr val="FFFFFF"/>
              </a:buClr>
              <a:buSzPts val="1800"/>
              <a:buChar char=" "/>
            </a:pPr>
            <a:r>
              <a:t/>
            </a:r>
            <a:endParaRPr sz="1800">
              <a:solidFill>
                <a:srgbClr val="FFFFFF"/>
              </a:solidFill>
            </a:endParaRPr>
          </a:p>
        </p:txBody>
      </p:sp>
      <p:pic>
        <p:nvPicPr>
          <p:cNvPr descr="A blue and red logo&#10;&#10;AI-generated content may be incorrect." id="240" name="Google Shape;240;p12"/>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241" name="Google Shape;241;p12"/>
          <p:cNvSpPr txBox="1"/>
          <p:nvPr/>
        </p:nvSpPr>
        <p:spPr>
          <a:xfrm>
            <a:off x="566450" y="589925"/>
            <a:ext cx="19719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PROGRAMMING PROJECT PRESENTATION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47" name="Google Shape;247;p13"/>
          <p:cNvSpPr/>
          <p:nvPr/>
        </p:nvSpPr>
        <p:spPr>
          <a:xfrm>
            <a:off x="2772744" y="484632"/>
            <a:ext cx="8948150" cy="5880916"/>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48" name="Google Shape;248;p13"/>
          <p:cNvSpPr txBox="1"/>
          <p:nvPr>
            <p:ph type="title"/>
          </p:nvPr>
        </p:nvSpPr>
        <p:spPr>
          <a:xfrm>
            <a:off x="3469327" y="788416"/>
            <a:ext cx="7923264"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a:solidFill>
                  <a:srgbClr val="FFFFFF"/>
                </a:solidFill>
              </a:rPr>
              <a:t>REFERENCES / ACKNOWLEDGEMENT</a:t>
            </a:r>
            <a:endParaRPr/>
          </a:p>
        </p:txBody>
      </p:sp>
      <p:sp>
        <p:nvSpPr>
          <p:cNvPr id="249" name="Google Shape;249;p13"/>
          <p:cNvSpPr/>
          <p:nvPr/>
        </p:nvSpPr>
        <p:spPr>
          <a:xfrm>
            <a:off x="475152" y="484632"/>
            <a:ext cx="2128933" cy="588091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cxnSp>
        <p:nvCxnSpPr>
          <p:cNvPr id="250" name="Google Shape;250;p13"/>
          <p:cNvCxnSpPr/>
          <p:nvPr/>
        </p:nvCxnSpPr>
        <p:spPr>
          <a:xfrm rot="10800000">
            <a:off x="3207198" y="1029524"/>
            <a:ext cx="0" cy="914400"/>
          </a:xfrm>
          <a:prstGeom prst="straightConnector1">
            <a:avLst/>
          </a:prstGeom>
          <a:noFill/>
          <a:ln cap="flat" cmpd="sng" w="19050">
            <a:solidFill>
              <a:schemeClr val="accent1">
                <a:alpha val="80000"/>
              </a:schemeClr>
            </a:solidFill>
            <a:prstDash val="solid"/>
            <a:round/>
            <a:headEnd len="sm" w="sm" type="none"/>
            <a:tailEnd len="sm" w="sm" type="none"/>
          </a:ln>
        </p:spPr>
      </p:cxnSp>
      <p:sp>
        <p:nvSpPr>
          <p:cNvPr id="251" name="Google Shape;251;p13"/>
          <p:cNvSpPr txBox="1"/>
          <p:nvPr>
            <p:ph idx="1" type="body"/>
          </p:nvPr>
        </p:nvSpPr>
        <p:spPr>
          <a:xfrm>
            <a:off x="2957352" y="2191527"/>
            <a:ext cx="7923300" cy="3554700"/>
          </a:xfrm>
          <a:prstGeom prst="rect">
            <a:avLst/>
          </a:prstGeom>
          <a:noFill/>
          <a:ln>
            <a:noFill/>
          </a:ln>
        </p:spPr>
        <p:txBody>
          <a:bodyPr anchorCtr="0" anchor="t" bIns="45700" lIns="45700" spcFirstLastPara="1" rIns="45700" wrap="square" tIns="45700">
            <a:normAutofit fontScale="85000" lnSpcReduction="20000"/>
          </a:bodyPr>
          <a:lstStyle/>
          <a:p>
            <a:pPr indent="0" lvl="0" marL="0" rtl="0" algn="l">
              <a:lnSpc>
                <a:spcPct val="115000"/>
              </a:lnSpc>
              <a:spcBef>
                <a:spcPts val="1400"/>
              </a:spcBef>
              <a:spcAft>
                <a:spcPts val="0"/>
              </a:spcAft>
              <a:buClr>
                <a:schemeClr val="dk1"/>
              </a:buClr>
              <a:buSzPct val="61111"/>
              <a:buFont typeface="Arial"/>
              <a:buNone/>
            </a:pPr>
            <a:r>
              <a:rPr b="1" lang="en-US" sz="1800">
                <a:latin typeface="Arial"/>
                <a:ea typeface="Arial"/>
                <a:cs typeface="Arial"/>
                <a:sym typeface="Arial"/>
              </a:rPr>
              <a:t>References</a:t>
            </a:r>
            <a:endParaRPr b="1" sz="1800">
              <a:latin typeface="Arial"/>
              <a:ea typeface="Arial"/>
              <a:cs typeface="Arial"/>
              <a:sym typeface="Arial"/>
            </a:endParaRPr>
          </a:p>
          <a:p>
            <a:pPr indent="-325755" lvl="0" marL="457200" rtl="0" algn="l">
              <a:lnSpc>
                <a:spcPct val="115000"/>
              </a:lnSpc>
              <a:spcBef>
                <a:spcPts val="1200"/>
              </a:spcBef>
              <a:spcAft>
                <a:spcPts val="0"/>
              </a:spcAft>
              <a:buClr>
                <a:schemeClr val="lt1"/>
              </a:buClr>
              <a:buSzPct val="100000"/>
              <a:buFont typeface="Arial"/>
              <a:buChar char="●"/>
            </a:pPr>
            <a:r>
              <a:rPr lang="en-US" sz="1800">
                <a:latin typeface="Arial"/>
                <a:ea typeface="Arial"/>
                <a:cs typeface="Arial"/>
                <a:sym typeface="Arial"/>
              </a:rPr>
              <a:t>Java Programming Language – JDK Documentation</a:t>
            </a:r>
            <a:endParaRPr sz="1800">
              <a:latin typeface="Arial"/>
              <a:ea typeface="Arial"/>
              <a:cs typeface="Arial"/>
              <a:sym typeface="Arial"/>
            </a:endParaRPr>
          </a:p>
          <a:p>
            <a:pPr indent="-325755" lvl="0" marL="457200" rtl="0" algn="l">
              <a:lnSpc>
                <a:spcPct val="115000"/>
              </a:lnSpc>
              <a:spcBef>
                <a:spcPts val="0"/>
              </a:spcBef>
              <a:spcAft>
                <a:spcPts val="0"/>
              </a:spcAft>
              <a:buClr>
                <a:schemeClr val="lt1"/>
              </a:buClr>
              <a:buSzPct val="100000"/>
              <a:buFont typeface="Arial"/>
              <a:buChar char="●"/>
            </a:pPr>
            <a:r>
              <a:rPr lang="en-US" sz="1800">
                <a:latin typeface="Arial"/>
                <a:ea typeface="Arial"/>
                <a:cs typeface="Arial"/>
                <a:sym typeface="Arial"/>
              </a:rPr>
              <a:t>Object-Oriented Programming Concepts (Java)</a:t>
            </a:r>
            <a:endParaRPr sz="1800">
              <a:latin typeface="Arial"/>
              <a:ea typeface="Arial"/>
              <a:cs typeface="Arial"/>
              <a:sym typeface="Arial"/>
            </a:endParaRPr>
          </a:p>
          <a:p>
            <a:pPr indent="-325755" lvl="0" marL="457200" rtl="0" algn="l">
              <a:lnSpc>
                <a:spcPct val="115000"/>
              </a:lnSpc>
              <a:spcBef>
                <a:spcPts val="0"/>
              </a:spcBef>
              <a:spcAft>
                <a:spcPts val="0"/>
              </a:spcAft>
              <a:buClr>
                <a:schemeClr val="lt1"/>
              </a:buClr>
              <a:buSzPct val="100000"/>
              <a:buFont typeface="Arial"/>
              <a:buChar char="●"/>
            </a:pPr>
            <a:r>
              <a:rPr lang="en-US" sz="1800">
                <a:latin typeface="Arial"/>
                <a:ea typeface="Arial"/>
                <a:cs typeface="Arial"/>
                <a:sym typeface="Arial"/>
              </a:rPr>
              <a:t>Eclipse / NetBeans IDE Documentation</a:t>
            </a:r>
            <a:endParaRPr sz="1800">
              <a:latin typeface="Arial"/>
              <a:ea typeface="Arial"/>
              <a:cs typeface="Arial"/>
              <a:sym typeface="Arial"/>
            </a:endParaRPr>
          </a:p>
          <a:p>
            <a:pPr indent="-325755" lvl="0" marL="457200" rtl="0" algn="l">
              <a:lnSpc>
                <a:spcPct val="115000"/>
              </a:lnSpc>
              <a:spcBef>
                <a:spcPts val="0"/>
              </a:spcBef>
              <a:spcAft>
                <a:spcPts val="0"/>
              </a:spcAft>
              <a:buClr>
                <a:schemeClr val="lt1"/>
              </a:buClr>
              <a:buSzPct val="100000"/>
              <a:buFont typeface="Arial"/>
              <a:buChar char="●"/>
            </a:pPr>
            <a:r>
              <a:rPr lang="en-US" sz="1800">
                <a:latin typeface="Arial"/>
                <a:ea typeface="Arial"/>
                <a:cs typeface="Arial"/>
                <a:sym typeface="Arial"/>
              </a:rPr>
              <a:t>Online tutorials and academic resources on Java development</a:t>
            </a:r>
            <a:endParaRPr sz="1800">
              <a:latin typeface="Arial"/>
              <a:ea typeface="Arial"/>
              <a:cs typeface="Arial"/>
              <a:sym typeface="Arial"/>
            </a:endParaRPr>
          </a:p>
          <a:p>
            <a:pPr indent="0" lvl="0" marL="0" rtl="0" algn="l">
              <a:lnSpc>
                <a:spcPct val="115000"/>
              </a:lnSpc>
              <a:spcBef>
                <a:spcPts val="1200"/>
              </a:spcBef>
              <a:spcAft>
                <a:spcPts val="0"/>
              </a:spcAft>
              <a:buNone/>
            </a:pPr>
            <a:r>
              <a:rPr b="1" lang="en-US" sz="1900">
                <a:latin typeface="Arial"/>
                <a:ea typeface="Arial"/>
                <a:cs typeface="Arial"/>
                <a:sym typeface="Arial"/>
              </a:rPr>
              <a:t>Acknowledgement</a:t>
            </a:r>
            <a:endParaRPr b="1" sz="1900">
              <a:latin typeface="Arial"/>
              <a:ea typeface="Arial"/>
              <a:cs typeface="Arial"/>
              <a:sym typeface="Arial"/>
            </a:endParaRPr>
          </a:p>
          <a:p>
            <a:pPr indent="0" lvl="0" marL="0" rtl="0" algn="l">
              <a:lnSpc>
                <a:spcPct val="115000"/>
              </a:lnSpc>
              <a:spcBef>
                <a:spcPts val="1200"/>
              </a:spcBef>
              <a:spcAft>
                <a:spcPts val="0"/>
              </a:spcAft>
              <a:buNone/>
            </a:pPr>
            <a:r>
              <a:rPr lang="en-US" sz="1900">
                <a:latin typeface="Arial"/>
                <a:ea typeface="Arial"/>
                <a:cs typeface="Arial"/>
                <a:sym typeface="Arial"/>
              </a:rPr>
              <a:t>I would like to express my sincere thanks to my faculty and institution for giving me the opportunity to complete this project. I also thank my friends and family for their support and encouragement. Finally, I am grateful to all online resources that helped in understanding and developing this project successfully.</a:t>
            </a:r>
            <a:endParaRPr sz="1900">
              <a:latin typeface="Arial"/>
              <a:ea typeface="Arial"/>
              <a:cs typeface="Arial"/>
              <a:sym typeface="Arial"/>
            </a:endParaRPr>
          </a:p>
          <a:p>
            <a:pPr indent="0" lvl="0" marL="91440" rtl="0" algn="l">
              <a:lnSpc>
                <a:spcPct val="90000"/>
              </a:lnSpc>
              <a:spcBef>
                <a:spcPts val="1200"/>
              </a:spcBef>
              <a:spcAft>
                <a:spcPts val="0"/>
              </a:spcAft>
              <a:buSzPct val="115789"/>
              <a:buNone/>
            </a:pPr>
            <a:r>
              <a:t/>
            </a:r>
            <a:endParaRPr sz="1900">
              <a:solidFill>
                <a:srgbClr val="FFFFFF"/>
              </a:solidFill>
            </a:endParaRPr>
          </a:p>
          <a:p>
            <a:pPr indent="0" lvl="0" marL="91440" rtl="0" algn="l">
              <a:lnSpc>
                <a:spcPct val="90000"/>
              </a:lnSpc>
              <a:spcBef>
                <a:spcPts val="1400"/>
              </a:spcBef>
              <a:spcAft>
                <a:spcPts val="0"/>
              </a:spcAft>
              <a:buNone/>
            </a:pPr>
            <a:r>
              <a:t/>
            </a:r>
            <a:endParaRPr sz="1900"/>
          </a:p>
        </p:txBody>
      </p:sp>
      <p:pic>
        <p:nvPicPr>
          <p:cNvPr descr="A blue and red logo&#10;&#10;AI-generated content may be incorrect." id="252" name="Google Shape;252;p13"/>
          <p:cNvPicPr preferRelativeResize="0"/>
          <p:nvPr/>
        </p:nvPicPr>
        <p:blipFill rotWithShape="1">
          <a:blip r:embed="rId3">
            <a:alphaModFix/>
          </a:blip>
          <a:srcRect b="0" l="0" r="0" t="0"/>
          <a:stretch/>
        </p:blipFill>
        <p:spPr>
          <a:xfrm>
            <a:off x="566451" y="654831"/>
            <a:ext cx="1877990" cy="469498"/>
          </a:xfrm>
          <a:prstGeom prst="rect">
            <a:avLst/>
          </a:prstGeom>
          <a:noFill/>
          <a:ln>
            <a:noFill/>
          </a:ln>
        </p:spPr>
      </p:pic>
      <p:sp>
        <p:nvSpPr>
          <p:cNvPr id="253" name="Google Shape;253;p13"/>
          <p:cNvSpPr txBox="1"/>
          <p:nvPr/>
        </p:nvSpPr>
        <p:spPr>
          <a:xfrm>
            <a:off x="566450" y="589925"/>
            <a:ext cx="2037600" cy="5613300"/>
          </a:xfrm>
          <a:prstGeom prst="rect">
            <a:avLst/>
          </a:prstGeom>
          <a:noFill/>
          <a:ln>
            <a:noFill/>
          </a:ln>
        </p:spPr>
        <p:txBody>
          <a:bodyPr anchorCtr="0" anchor="ctr" bIns="45700" lIns="91425" spcFirstLastPara="1" rIns="91425" wrap="square" tIns="45700">
            <a:normAutofit/>
          </a:bodyPr>
          <a:lstStyle/>
          <a:p>
            <a:pPr indent="0" lvl="0" marL="0" marR="0" rtl="0" algn="l">
              <a:lnSpc>
                <a:spcPct val="80000"/>
              </a:lnSpc>
              <a:spcBef>
                <a:spcPts val="0"/>
              </a:spcBef>
              <a:spcAft>
                <a:spcPts val="0"/>
              </a:spcAft>
              <a:buClr>
                <a:srgbClr val="FFFFFF"/>
              </a:buClr>
              <a:buSzPts val="2000"/>
              <a:buFont typeface="Twentieth Century"/>
              <a:buNone/>
            </a:pPr>
            <a:r>
              <a:rPr lang="en-US" sz="2000">
                <a:solidFill>
                  <a:srgbClr val="FFFFFF"/>
                </a:solidFill>
                <a:latin typeface="Twentieth Century"/>
                <a:ea typeface="Twentieth Century"/>
                <a:cs typeface="Twentieth Century"/>
                <a:sym typeface="Twentieth Century"/>
              </a:rPr>
              <a:t>JAVA </a:t>
            </a:r>
            <a:r>
              <a:rPr b="0" i="0" lang="en-US" sz="2000" u="none" cap="none" strike="noStrike">
                <a:solidFill>
                  <a:srgbClr val="FFFFFF"/>
                </a:solidFill>
                <a:latin typeface="Twentieth Century"/>
                <a:ea typeface="Twentieth Century"/>
                <a:cs typeface="Twentieth Century"/>
                <a:sym typeface="Twentieth Century"/>
              </a:rPr>
              <a:t>PROGRAMMING PROJECT PRESENTATION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59" name="Google Shape;259;p14"/>
          <p:cNvSpPr/>
          <p:nvPr/>
        </p:nvSpPr>
        <p:spPr>
          <a:xfrm>
            <a:off x="327545" y="321731"/>
            <a:ext cx="11551187" cy="621453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260" name="Google Shape;260;p14"/>
          <p:cNvSpPr txBox="1"/>
          <p:nvPr>
            <p:ph type="title"/>
          </p:nvPr>
        </p:nvSpPr>
        <p:spPr>
          <a:xfrm>
            <a:off x="3522629" y="2342741"/>
            <a:ext cx="10329600" cy="14997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FFFFFF"/>
              </a:buClr>
              <a:buSzPts val="5000"/>
              <a:buFont typeface="Twentieth Century"/>
              <a:buNone/>
            </a:pPr>
            <a:r>
              <a:rPr lang="en-US" sz="6000">
                <a:solidFill>
                  <a:srgbClr val="FFFFFF"/>
                </a:solidFill>
              </a:rPr>
              <a:t>THANK YOU</a:t>
            </a:r>
            <a:endParaRPr sz="6000"/>
          </a:p>
        </p:txBody>
      </p:sp>
      <p:cxnSp>
        <p:nvCxnSpPr>
          <p:cNvPr id="261" name="Google Shape;261;p14"/>
          <p:cNvCxnSpPr/>
          <p:nvPr/>
        </p:nvCxnSpPr>
        <p:spPr>
          <a:xfrm rot="10800000">
            <a:off x="762000" y="826324"/>
            <a:ext cx="0" cy="914400"/>
          </a:xfrm>
          <a:prstGeom prst="straightConnector1">
            <a:avLst/>
          </a:prstGeom>
          <a:noFill/>
          <a:ln cap="flat" cmpd="sng" w="19050">
            <a:solidFill>
              <a:srgbClr val="D0EEF9"/>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